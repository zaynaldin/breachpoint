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mo" panose="020B0604020202020204" charset="0"/>
      <p:regular r:id="rId8"/>
    </p:embeddedFont>
    <p:embeddedFont>
      <p:font typeface="Pattanakarn" panose="020B0604020202020204" charset="-34"/>
      <p:regular r:id="rId9"/>
    </p:embeddedFont>
    <p:embeddedFont>
      <p:font typeface="Pattanakarn Bold" panose="020B0604020202020204" charset="-34"/>
      <p:regular r:id="rId10"/>
    </p:embeddedFont>
    <p:embeddedFont>
      <p:font typeface="Pattanakarn Italics" panose="020B0604020202020204" charset="-34"/>
      <p:regular r:id="rId11"/>
    </p:embeddedFont>
    <p:embeddedFont>
      <p:font typeface="Pattanakarn Light" panose="020B0604020202020204" charset="-3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E35B09-5570-D2B2-2125-B191905BCF88}" v="43" dt="2026-07-03T22:10:20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0.svg"/><Relationship Id="rId4" Type="http://schemas.openxmlformats.org/officeDocument/2006/relationships/image" Target="../media/image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hyperlink" Target="https://www.bing.com/ck/a?!&amp;&amp;p=5e1cf772de7d4fec989f4440b7514da5a2a7ec59bee88d31dcc78804117d330eJmltdHM9MTc4MzAzNjgwMA&amp;ptn=3&amp;ver=2&amp;hsh=4&amp;fclid=06639611-ed31-6121-1fda-8167ec4660a9&amp;psq=framer+pricing&amp;u=a1aHR0cHM6Ly93d3cuZnJhbWVyLmNvbS9wcmljaW5n" TargetMode="External"/><Relationship Id="rId4" Type="http://schemas.openxmlformats.org/officeDocument/2006/relationships/hyperlink" Target="https://www.bing.com/ck/a?!&amp;&amp;p=bfd69f5922df0bc6e185ba18bd6ddf9888dc884d9db2244616cbe29da6becbc8JmltdHM9MTc4MzAzNjgwMA&amp;ptn=3&amp;ver=2&amp;hsh=4&amp;fclid=06639611-ed31-6121-1fda-8167ec4660a9&amp;psq=azure+pricing&amp;u=a1aHR0cHM6Ly9henVyZS5taWNyb3NvZnQuY29tL2VuLXVzL3ByaWNpbmcvP21zb2NraWQ9MDY2Mzk2MTFlZDMxNjEyMTFmZGE4MTY3ZWM0NjYwYT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5924170"/>
            <a:ext cx="16230600" cy="0"/>
          </a:xfrm>
          <a:prstGeom prst="line">
            <a:avLst/>
          </a:prstGeom>
          <a:ln w="9525" cap="flat">
            <a:solidFill>
              <a:srgbClr val="D7E7C6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028700" y="7319414"/>
            <a:ext cx="16230600" cy="0"/>
          </a:xfrm>
          <a:prstGeom prst="line">
            <a:avLst/>
          </a:prstGeom>
          <a:ln w="9525" cap="flat">
            <a:solidFill>
              <a:srgbClr val="D7E7C6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5797503" y="5369310"/>
            <a:ext cx="6692994" cy="4917865"/>
            <a:chOff x="0" y="0"/>
            <a:chExt cx="1762764" cy="153893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62764" cy="1538937"/>
            </a:xfrm>
            <a:custGeom>
              <a:avLst/>
              <a:gdLst/>
              <a:ahLst/>
              <a:cxnLst/>
              <a:rect l="l" t="t" r="r" b="b"/>
              <a:pathLst>
                <a:path w="1762764" h="1538937">
                  <a:moveTo>
                    <a:pt x="11567" y="0"/>
                  </a:moveTo>
                  <a:lnTo>
                    <a:pt x="1751197" y="0"/>
                  </a:lnTo>
                  <a:cubicBezTo>
                    <a:pt x="1757585" y="0"/>
                    <a:pt x="1762764" y="5179"/>
                    <a:pt x="1762764" y="11567"/>
                  </a:cubicBezTo>
                  <a:lnTo>
                    <a:pt x="1762764" y="1527369"/>
                  </a:lnTo>
                  <a:cubicBezTo>
                    <a:pt x="1762764" y="1533758"/>
                    <a:pt x="1757585" y="1538937"/>
                    <a:pt x="1751197" y="1538937"/>
                  </a:cubicBezTo>
                  <a:lnTo>
                    <a:pt x="11567" y="1538937"/>
                  </a:lnTo>
                  <a:cubicBezTo>
                    <a:pt x="5179" y="1538937"/>
                    <a:pt x="0" y="1533758"/>
                    <a:pt x="0" y="1527369"/>
                  </a:cubicBezTo>
                  <a:lnTo>
                    <a:pt x="0" y="11567"/>
                  </a:lnTo>
                  <a:cubicBezTo>
                    <a:pt x="0" y="5179"/>
                    <a:pt x="5179" y="0"/>
                    <a:pt x="11567" y="0"/>
                  </a:cubicBezTo>
                  <a:close/>
                </a:path>
              </a:pathLst>
            </a:custGeom>
            <a:solidFill>
              <a:srgbClr val="020B1B"/>
            </a:solidFill>
            <a:ln w="9525" cap="sq">
              <a:solidFill>
                <a:srgbClr val="36D8C3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762764" cy="15770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852223" y="6402082"/>
            <a:ext cx="1015467" cy="439420"/>
          </a:xfrm>
          <a:custGeom>
            <a:avLst/>
            <a:gdLst/>
            <a:ahLst/>
            <a:cxnLst/>
            <a:rect l="l" t="t" r="r" b="b"/>
            <a:pathLst>
              <a:path w="1015467" h="439420">
                <a:moveTo>
                  <a:pt x="0" y="0"/>
                </a:moveTo>
                <a:lnTo>
                  <a:pt x="1015467" y="0"/>
                </a:lnTo>
                <a:lnTo>
                  <a:pt x="1015467" y="439420"/>
                </a:lnTo>
                <a:lnTo>
                  <a:pt x="0" y="439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4420310" y="6402082"/>
            <a:ext cx="1015467" cy="439420"/>
          </a:xfrm>
          <a:custGeom>
            <a:avLst/>
            <a:gdLst/>
            <a:ahLst/>
            <a:cxnLst/>
            <a:rect l="l" t="t" r="r" b="b"/>
            <a:pathLst>
              <a:path w="1015467" h="439420">
                <a:moveTo>
                  <a:pt x="1015467" y="0"/>
                </a:moveTo>
                <a:lnTo>
                  <a:pt x="0" y="0"/>
                </a:lnTo>
                <a:lnTo>
                  <a:pt x="0" y="439420"/>
                </a:lnTo>
                <a:lnTo>
                  <a:pt x="1015467" y="439420"/>
                </a:lnTo>
                <a:lnTo>
                  <a:pt x="101546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8700" y="8442624"/>
            <a:ext cx="809744" cy="815676"/>
          </a:xfrm>
          <a:custGeom>
            <a:avLst/>
            <a:gdLst/>
            <a:ahLst/>
            <a:cxnLst/>
            <a:rect l="l" t="t" r="r" b="b"/>
            <a:pathLst>
              <a:path w="809744" h="815676">
                <a:moveTo>
                  <a:pt x="0" y="0"/>
                </a:moveTo>
                <a:lnTo>
                  <a:pt x="809744" y="0"/>
                </a:lnTo>
                <a:lnTo>
                  <a:pt x="809744" y="815676"/>
                </a:lnTo>
                <a:lnTo>
                  <a:pt x="0" y="8156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777804" y="5674996"/>
            <a:ext cx="4732391" cy="4732391"/>
          </a:xfrm>
          <a:custGeom>
            <a:avLst/>
            <a:gdLst/>
            <a:ahLst/>
            <a:cxnLst/>
            <a:rect l="l" t="t" r="r" b="b"/>
            <a:pathLst>
              <a:path w="4732391" h="4732391">
                <a:moveTo>
                  <a:pt x="0" y="0"/>
                </a:moveTo>
                <a:lnTo>
                  <a:pt x="4732392" y="0"/>
                </a:lnTo>
                <a:lnTo>
                  <a:pt x="4732392" y="4732391"/>
                </a:lnTo>
                <a:lnTo>
                  <a:pt x="0" y="47323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6449556" y="8442624"/>
            <a:ext cx="809744" cy="815676"/>
          </a:xfrm>
          <a:custGeom>
            <a:avLst/>
            <a:gdLst/>
            <a:ahLst/>
            <a:cxnLst/>
            <a:rect l="l" t="t" r="r" b="b"/>
            <a:pathLst>
              <a:path w="809744" h="815676">
                <a:moveTo>
                  <a:pt x="809744" y="0"/>
                </a:moveTo>
                <a:lnTo>
                  <a:pt x="0" y="0"/>
                </a:lnTo>
                <a:lnTo>
                  <a:pt x="0" y="815676"/>
                </a:lnTo>
                <a:lnTo>
                  <a:pt x="809744" y="815676"/>
                </a:lnTo>
                <a:lnTo>
                  <a:pt x="8097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555104">
            <a:off x="8320839" y="7027298"/>
            <a:ext cx="1646322" cy="2360318"/>
          </a:xfrm>
          <a:custGeom>
            <a:avLst/>
            <a:gdLst/>
            <a:ahLst/>
            <a:cxnLst/>
            <a:rect l="l" t="t" r="r" b="b"/>
            <a:pathLst>
              <a:path w="1646322" h="2360318">
                <a:moveTo>
                  <a:pt x="0" y="0"/>
                </a:moveTo>
                <a:lnTo>
                  <a:pt x="1646322" y="0"/>
                </a:lnTo>
                <a:lnTo>
                  <a:pt x="1646322" y="2360318"/>
                </a:lnTo>
                <a:lnTo>
                  <a:pt x="0" y="2360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3" name="Group 13"/>
          <p:cNvGrpSpPr/>
          <p:nvPr/>
        </p:nvGrpSpPr>
        <p:grpSpPr>
          <a:xfrm>
            <a:off x="686241" y="505108"/>
            <a:ext cx="4304628" cy="649536"/>
            <a:chOff x="0" y="0"/>
            <a:chExt cx="5739504" cy="8660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41652" cy="866048"/>
            </a:xfrm>
            <a:custGeom>
              <a:avLst/>
              <a:gdLst/>
              <a:ahLst/>
              <a:cxnLst/>
              <a:rect l="l" t="t" r="r" b="b"/>
              <a:pathLst>
                <a:path w="741652" h="866048">
                  <a:moveTo>
                    <a:pt x="0" y="0"/>
                  </a:moveTo>
                  <a:lnTo>
                    <a:pt x="741652" y="0"/>
                  </a:lnTo>
                  <a:lnTo>
                    <a:pt x="741652" y="866048"/>
                  </a:lnTo>
                  <a:lnTo>
                    <a:pt x="0" y="866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988783" y="275902"/>
              <a:ext cx="4750721" cy="578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6"/>
                </a:lnSpc>
              </a:pPr>
              <a:r>
                <a:rPr lang="en-US" sz="3300">
                  <a:solidFill>
                    <a:srgbClr val="F2F3F4"/>
                  </a:solidFill>
                  <a:latin typeface="Pattanakarn Light"/>
                  <a:ea typeface="Pattanakarn Light"/>
                  <a:cs typeface="Pattanakarn Light"/>
                  <a:sym typeface="Pattanakarn Light"/>
                </a:rPr>
                <a:t>BreachPoint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13141000" y="-2717993"/>
            <a:ext cx="8020119" cy="8229600"/>
          </a:xfrm>
          <a:custGeom>
            <a:avLst/>
            <a:gdLst/>
            <a:ahLst/>
            <a:cxnLst/>
            <a:rect l="l" t="t" r="r" b="b"/>
            <a:pathLst>
              <a:path w="8020119" h="8229600">
                <a:moveTo>
                  <a:pt x="0" y="0"/>
                </a:moveTo>
                <a:lnTo>
                  <a:pt x="8020120" y="0"/>
                </a:lnTo>
                <a:lnTo>
                  <a:pt x="8020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670158" y="2686006"/>
            <a:ext cx="12947684" cy="119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38"/>
              </a:lnSpc>
            </a:pPr>
            <a:r>
              <a:rPr lang="en-US" sz="9498">
                <a:solidFill>
                  <a:srgbClr val="36D8C3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TCO EVALUATION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60080" y="1939981"/>
            <a:ext cx="7367840" cy="42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1"/>
              </a:lnSpc>
            </a:pPr>
            <a:r>
              <a:rPr lang="en-US" sz="3469">
                <a:solidFill>
                  <a:srgbClr val="36D8C3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//</a:t>
            </a:r>
            <a:r>
              <a:rPr lang="en-US" sz="3469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 BREACHPOINT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98414" y="5760721"/>
            <a:ext cx="5091173" cy="412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36"/>
              </a:lnSpc>
            </a:pPr>
            <a:r>
              <a:rPr lang="en-US" sz="3300">
                <a:solidFill>
                  <a:srgbClr val="36D8C3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Author</a:t>
            </a:r>
            <a:r>
              <a:rPr lang="en-US" sz="3300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: Attia, Zaynaldin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41810" y="6378377"/>
            <a:ext cx="2004380" cy="412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36"/>
              </a:lnSpc>
            </a:pPr>
            <a:r>
              <a:rPr lang="en-US" sz="3300">
                <a:solidFill>
                  <a:srgbClr val="36D8C3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35997081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3868" y="742021"/>
            <a:ext cx="6975432" cy="412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36"/>
              </a:lnSpc>
            </a:pPr>
            <a:r>
              <a:rPr lang="en-US" sz="330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0</a:t>
            </a:r>
            <a:r>
              <a:rPr lang="en-US" sz="3300">
                <a:solidFill>
                  <a:srgbClr val="36D8C3"/>
                </a:solidFill>
                <a:latin typeface="Pattanakarn"/>
                <a:ea typeface="Pattanakarn"/>
                <a:cs typeface="Pattanakarn"/>
                <a:sym typeface="Pattanakar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44464" y="6004331"/>
            <a:ext cx="4158390" cy="4304990"/>
            <a:chOff x="0" y="0"/>
            <a:chExt cx="1103815" cy="17846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3815" cy="1784638"/>
            </a:xfrm>
            <a:custGeom>
              <a:avLst/>
              <a:gdLst/>
              <a:ahLst/>
              <a:cxnLst/>
              <a:rect l="l" t="t" r="r" b="b"/>
              <a:pathLst>
                <a:path w="1103815" h="1784638">
                  <a:moveTo>
                    <a:pt x="18473" y="0"/>
                  </a:moveTo>
                  <a:lnTo>
                    <a:pt x="1085342" y="0"/>
                  </a:lnTo>
                  <a:cubicBezTo>
                    <a:pt x="1095544" y="0"/>
                    <a:pt x="1103815" y="8270"/>
                    <a:pt x="1103815" y="18473"/>
                  </a:cubicBezTo>
                  <a:lnTo>
                    <a:pt x="1103815" y="1766165"/>
                  </a:lnTo>
                  <a:cubicBezTo>
                    <a:pt x="1103815" y="1776367"/>
                    <a:pt x="1095544" y="1784638"/>
                    <a:pt x="1085342" y="1784638"/>
                  </a:cubicBezTo>
                  <a:lnTo>
                    <a:pt x="18473" y="1784638"/>
                  </a:lnTo>
                  <a:cubicBezTo>
                    <a:pt x="8270" y="1784638"/>
                    <a:pt x="0" y="1776367"/>
                    <a:pt x="0" y="1766165"/>
                  </a:cubicBezTo>
                  <a:lnTo>
                    <a:pt x="0" y="18473"/>
                  </a:lnTo>
                  <a:cubicBezTo>
                    <a:pt x="0" y="8270"/>
                    <a:pt x="8270" y="0"/>
                    <a:pt x="18473" y="0"/>
                  </a:cubicBezTo>
                  <a:close/>
                </a:path>
              </a:pathLst>
            </a:custGeom>
            <a:solidFill>
              <a:srgbClr val="020B1B"/>
            </a:solidFill>
            <a:ln w="9525" cap="sq">
              <a:solidFill>
                <a:srgbClr val="36D8C3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03815" cy="1822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48477" y="5464335"/>
            <a:ext cx="4245475" cy="4838390"/>
            <a:chOff x="0" y="0"/>
            <a:chExt cx="1103815" cy="17846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03815" cy="1784638"/>
            </a:xfrm>
            <a:custGeom>
              <a:avLst/>
              <a:gdLst/>
              <a:ahLst/>
              <a:cxnLst/>
              <a:rect l="l" t="t" r="r" b="b"/>
              <a:pathLst>
                <a:path w="1103815" h="1784638">
                  <a:moveTo>
                    <a:pt x="18473" y="0"/>
                  </a:moveTo>
                  <a:lnTo>
                    <a:pt x="1085342" y="0"/>
                  </a:lnTo>
                  <a:cubicBezTo>
                    <a:pt x="1095544" y="0"/>
                    <a:pt x="1103815" y="8270"/>
                    <a:pt x="1103815" y="18473"/>
                  </a:cubicBezTo>
                  <a:lnTo>
                    <a:pt x="1103815" y="1766165"/>
                  </a:lnTo>
                  <a:cubicBezTo>
                    <a:pt x="1103815" y="1776367"/>
                    <a:pt x="1095544" y="1784638"/>
                    <a:pt x="1085342" y="1784638"/>
                  </a:cubicBezTo>
                  <a:lnTo>
                    <a:pt x="18473" y="1784638"/>
                  </a:lnTo>
                  <a:cubicBezTo>
                    <a:pt x="8270" y="1784638"/>
                    <a:pt x="0" y="1776367"/>
                    <a:pt x="0" y="1766165"/>
                  </a:cubicBezTo>
                  <a:lnTo>
                    <a:pt x="0" y="18473"/>
                  </a:lnTo>
                  <a:cubicBezTo>
                    <a:pt x="0" y="8270"/>
                    <a:pt x="8270" y="0"/>
                    <a:pt x="18473" y="0"/>
                  </a:cubicBezTo>
                  <a:close/>
                </a:path>
              </a:pathLst>
            </a:custGeom>
            <a:solidFill>
              <a:srgbClr val="020B1B"/>
            </a:solidFill>
            <a:ln w="9525" cap="sq">
              <a:solidFill>
                <a:srgbClr val="36D8C3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03815" cy="1822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352489" y="6015217"/>
            <a:ext cx="4191047" cy="4283218"/>
            <a:chOff x="0" y="0"/>
            <a:chExt cx="1103815" cy="17846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03815" cy="1784638"/>
            </a:xfrm>
            <a:custGeom>
              <a:avLst/>
              <a:gdLst/>
              <a:ahLst/>
              <a:cxnLst/>
              <a:rect l="l" t="t" r="r" b="b"/>
              <a:pathLst>
                <a:path w="1103815" h="1784638">
                  <a:moveTo>
                    <a:pt x="18473" y="0"/>
                  </a:moveTo>
                  <a:lnTo>
                    <a:pt x="1085342" y="0"/>
                  </a:lnTo>
                  <a:cubicBezTo>
                    <a:pt x="1095544" y="0"/>
                    <a:pt x="1103815" y="8270"/>
                    <a:pt x="1103815" y="18473"/>
                  </a:cubicBezTo>
                  <a:lnTo>
                    <a:pt x="1103815" y="1766165"/>
                  </a:lnTo>
                  <a:cubicBezTo>
                    <a:pt x="1103815" y="1776367"/>
                    <a:pt x="1095544" y="1784638"/>
                    <a:pt x="1085342" y="1784638"/>
                  </a:cubicBezTo>
                  <a:lnTo>
                    <a:pt x="18473" y="1784638"/>
                  </a:lnTo>
                  <a:cubicBezTo>
                    <a:pt x="8270" y="1784638"/>
                    <a:pt x="0" y="1776367"/>
                    <a:pt x="0" y="1766165"/>
                  </a:cubicBezTo>
                  <a:lnTo>
                    <a:pt x="0" y="18473"/>
                  </a:lnTo>
                  <a:cubicBezTo>
                    <a:pt x="0" y="8270"/>
                    <a:pt x="8270" y="0"/>
                    <a:pt x="18473" y="0"/>
                  </a:cubicBezTo>
                  <a:close/>
                </a:path>
              </a:pathLst>
            </a:custGeom>
            <a:solidFill>
              <a:srgbClr val="020B1B"/>
            </a:solidFill>
            <a:ln w="9525" cap="sq">
              <a:solidFill>
                <a:srgbClr val="36D8C3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03815" cy="1822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4060962" y="9074579"/>
            <a:ext cx="774101" cy="774101"/>
          </a:xfrm>
          <a:custGeom>
            <a:avLst/>
            <a:gdLst/>
            <a:ahLst/>
            <a:cxnLst/>
            <a:rect l="l" t="t" r="r" b="b"/>
            <a:pathLst>
              <a:path w="774101" h="774101">
                <a:moveTo>
                  <a:pt x="0" y="0"/>
                </a:moveTo>
                <a:lnTo>
                  <a:pt x="774101" y="0"/>
                </a:lnTo>
                <a:lnTo>
                  <a:pt x="774101" y="774101"/>
                </a:lnTo>
                <a:lnTo>
                  <a:pt x="0" y="7741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V="1">
            <a:off x="1028700" y="3511398"/>
            <a:ext cx="862959" cy="373426"/>
          </a:xfrm>
          <a:custGeom>
            <a:avLst/>
            <a:gdLst/>
            <a:ahLst/>
            <a:cxnLst/>
            <a:rect l="l" t="t" r="r" b="b"/>
            <a:pathLst>
              <a:path w="862959" h="373426">
                <a:moveTo>
                  <a:pt x="0" y="373426"/>
                </a:moveTo>
                <a:lnTo>
                  <a:pt x="862959" y="373426"/>
                </a:lnTo>
                <a:lnTo>
                  <a:pt x="862959" y="0"/>
                </a:lnTo>
                <a:lnTo>
                  <a:pt x="0" y="0"/>
                </a:lnTo>
                <a:lnTo>
                  <a:pt x="0" y="37342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 flipV="1">
            <a:off x="16392711" y="3511398"/>
            <a:ext cx="862959" cy="373426"/>
          </a:xfrm>
          <a:custGeom>
            <a:avLst/>
            <a:gdLst/>
            <a:ahLst/>
            <a:cxnLst/>
            <a:rect l="l" t="t" r="r" b="b"/>
            <a:pathLst>
              <a:path w="862959" h="373426">
                <a:moveTo>
                  <a:pt x="862959" y="373426"/>
                </a:moveTo>
                <a:lnTo>
                  <a:pt x="0" y="373426"/>
                </a:lnTo>
                <a:lnTo>
                  <a:pt x="0" y="0"/>
                </a:lnTo>
                <a:lnTo>
                  <a:pt x="862959" y="0"/>
                </a:lnTo>
                <a:lnTo>
                  <a:pt x="862959" y="37342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686241" y="505108"/>
            <a:ext cx="16573059" cy="649536"/>
            <a:chOff x="0" y="0"/>
            <a:chExt cx="22097412" cy="866048"/>
          </a:xfrm>
        </p:grpSpPr>
        <p:sp>
          <p:nvSpPr>
            <p:cNvPr id="15" name="TextBox 15"/>
            <p:cNvSpPr txBox="1"/>
            <p:nvPr/>
          </p:nvSpPr>
          <p:spPr>
            <a:xfrm>
              <a:off x="12796836" y="287309"/>
              <a:ext cx="9300576" cy="578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036"/>
                </a:lnSpc>
              </a:pPr>
              <a:r>
                <a:rPr lang="en-US" sz="3300">
                  <a:solidFill>
                    <a:srgbClr val="F2F3F4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0</a:t>
              </a:r>
              <a:r>
                <a:rPr lang="en-US" sz="3300">
                  <a:solidFill>
                    <a:srgbClr val="36D8C3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2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741652" cy="866048"/>
            </a:xfrm>
            <a:custGeom>
              <a:avLst/>
              <a:gdLst/>
              <a:ahLst/>
              <a:cxnLst/>
              <a:rect l="l" t="t" r="r" b="b"/>
              <a:pathLst>
                <a:path w="741652" h="866048">
                  <a:moveTo>
                    <a:pt x="0" y="0"/>
                  </a:moveTo>
                  <a:lnTo>
                    <a:pt x="741652" y="0"/>
                  </a:lnTo>
                  <a:lnTo>
                    <a:pt x="741652" y="866048"/>
                  </a:lnTo>
                  <a:lnTo>
                    <a:pt x="0" y="866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988783" y="275902"/>
              <a:ext cx="4750721" cy="578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6"/>
                </a:lnSpc>
              </a:pPr>
              <a:r>
                <a:rPr lang="en-US" sz="3300">
                  <a:solidFill>
                    <a:srgbClr val="F2F3F4"/>
                  </a:solidFill>
                  <a:latin typeface="Pattanakarn Light"/>
                  <a:ea typeface="Pattanakarn Light"/>
                  <a:cs typeface="Pattanakarn Light"/>
                  <a:sym typeface="Pattanakarn Light"/>
                </a:rPr>
                <a:t>BreachPoint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8719743" y="8581937"/>
            <a:ext cx="887366" cy="788646"/>
          </a:xfrm>
          <a:custGeom>
            <a:avLst/>
            <a:gdLst/>
            <a:ahLst/>
            <a:cxnLst/>
            <a:rect l="l" t="t" r="r" b="b"/>
            <a:pathLst>
              <a:path w="887366" h="788646">
                <a:moveTo>
                  <a:pt x="0" y="0"/>
                </a:moveTo>
                <a:lnTo>
                  <a:pt x="887365" y="0"/>
                </a:lnTo>
                <a:lnTo>
                  <a:pt x="887365" y="788646"/>
                </a:lnTo>
                <a:lnTo>
                  <a:pt x="0" y="788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3446364" y="8841473"/>
            <a:ext cx="787247" cy="902289"/>
          </a:xfrm>
          <a:custGeom>
            <a:avLst/>
            <a:gdLst/>
            <a:ahLst/>
            <a:cxnLst/>
            <a:rect l="l" t="t" r="r" b="b"/>
            <a:pathLst>
              <a:path w="787247" h="902289">
                <a:moveTo>
                  <a:pt x="0" y="0"/>
                </a:moveTo>
                <a:lnTo>
                  <a:pt x="787247" y="0"/>
                </a:lnTo>
                <a:lnTo>
                  <a:pt x="787247" y="902288"/>
                </a:lnTo>
                <a:lnTo>
                  <a:pt x="0" y="902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2198302" y="6279638"/>
            <a:ext cx="3283371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F2F3F4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CVE</a:t>
            </a:r>
            <a:r>
              <a:rPr lang="en-US" sz="2000" b="1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 Cross-referencing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98302" y="7110596"/>
            <a:ext cx="3283371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Maps discovered services against live security vulnerability databases to resolve accurate vulnerability records.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51514" y="5727934"/>
            <a:ext cx="3023823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F2F3F4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 Port </a:t>
            </a:r>
            <a:r>
              <a:rPr lang="en-US" sz="2000" b="1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Reconnaissance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21740" y="6536813"/>
            <a:ext cx="3283371" cy="136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Actively interrogates target infrastructure to map all active network entry points and surface configurations.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222763" y="6279638"/>
            <a:ext cx="2450499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F2F3F4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 Target</a:t>
            </a:r>
            <a:r>
              <a:rPr lang="en-US" sz="2000" b="1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 Ingestion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15852" y="7053446"/>
            <a:ext cx="3264321" cy="1703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Accepts the target domain structure, ensuring precise validation of perimeter scope boundaries before launching scanning operations.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52489" y="2845953"/>
            <a:ext cx="7825979" cy="85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57"/>
              </a:lnSpc>
            </a:pPr>
            <a:r>
              <a:rPr lang="en-US" sz="6801">
                <a:solidFill>
                  <a:srgbClr val="36D8C3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BREACHPOINT?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52489" y="2185066"/>
            <a:ext cx="5733671" cy="479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3875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WHAT IS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52489" y="3650486"/>
            <a:ext cx="9004781" cy="181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spc="16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BreachPoint is an automated, cloud-native security tool engineered to map external attack surfaces. BreachPoint runs a continuous three-step pipeline: </a:t>
            </a:r>
            <a:r>
              <a:rPr lang="en-US" sz="1600" b="1" spc="16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target ingestion</a:t>
            </a:r>
            <a:r>
              <a:rPr lang="en-US" sz="1600" spc="16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, </a:t>
            </a:r>
            <a:r>
              <a:rPr lang="en-US" sz="1600" b="1" spc="16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port reconnaissance</a:t>
            </a:r>
            <a:r>
              <a:rPr lang="en-US" sz="1600" spc="16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, and </a:t>
            </a:r>
            <a:r>
              <a:rPr lang="en-US" sz="1600" b="1" spc="16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CVE cross-referencing</a:t>
            </a:r>
            <a:r>
              <a:rPr lang="en-US" sz="1600" spc="16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 to find vulnerabilities before adversaries do. Because step two involves active outbound network scanning, our choice of hosting infrastructure directly impacts our operational costs, bandwidth limits, and compliance profile.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053821" y="2875214"/>
            <a:ext cx="3819687" cy="1738767"/>
            <a:chOff x="0" y="0"/>
            <a:chExt cx="5092917" cy="2318356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5092917" cy="2318356"/>
              <a:chOff x="0" y="0"/>
              <a:chExt cx="1006008" cy="45794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006008" cy="457947"/>
              </a:xfrm>
              <a:custGeom>
                <a:avLst/>
                <a:gdLst/>
                <a:ahLst/>
                <a:cxnLst/>
                <a:rect l="l" t="t" r="r" b="b"/>
                <a:pathLst>
                  <a:path w="1006008" h="457947">
                    <a:moveTo>
                      <a:pt x="20268" y="0"/>
                    </a:moveTo>
                    <a:lnTo>
                      <a:pt x="985740" y="0"/>
                    </a:lnTo>
                    <a:cubicBezTo>
                      <a:pt x="991115" y="0"/>
                      <a:pt x="996271" y="2135"/>
                      <a:pt x="1000072" y="5936"/>
                    </a:cubicBezTo>
                    <a:cubicBezTo>
                      <a:pt x="1003873" y="9738"/>
                      <a:pt x="1006008" y="14893"/>
                      <a:pt x="1006008" y="20268"/>
                    </a:cubicBezTo>
                    <a:lnTo>
                      <a:pt x="1006008" y="437678"/>
                    </a:lnTo>
                    <a:cubicBezTo>
                      <a:pt x="1006008" y="443054"/>
                      <a:pt x="1003873" y="448209"/>
                      <a:pt x="1000072" y="452010"/>
                    </a:cubicBezTo>
                    <a:cubicBezTo>
                      <a:pt x="996271" y="455811"/>
                      <a:pt x="991115" y="457947"/>
                      <a:pt x="985740" y="457947"/>
                    </a:cubicBezTo>
                    <a:lnTo>
                      <a:pt x="20268" y="457947"/>
                    </a:lnTo>
                    <a:cubicBezTo>
                      <a:pt x="14893" y="457947"/>
                      <a:pt x="9738" y="455811"/>
                      <a:pt x="5936" y="452010"/>
                    </a:cubicBezTo>
                    <a:cubicBezTo>
                      <a:pt x="2135" y="448209"/>
                      <a:pt x="0" y="443054"/>
                      <a:pt x="0" y="437678"/>
                    </a:cubicBezTo>
                    <a:lnTo>
                      <a:pt x="0" y="20268"/>
                    </a:lnTo>
                    <a:cubicBezTo>
                      <a:pt x="0" y="14893"/>
                      <a:pt x="2135" y="9738"/>
                      <a:pt x="5936" y="5936"/>
                    </a:cubicBezTo>
                    <a:cubicBezTo>
                      <a:pt x="9738" y="2135"/>
                      <a:pt x="14893" y="0"/>
                      <a:pt x="20268" y="0"/>
                    </a:cubicBezTo>
                    <a:close/>
                  </a:path>
                </a:pathLst>
              </a:custGeom>
              <a:solidFill>
                <a:srgbClr val="020B1B"/>
              </a:solidFill>
              <a:ln w="9525" cap="sq">
                <a:solidFill>
                  <a:srgbClr val="36D8C3"/>
                </a:solidFill>
                <a:prstDash val="solid"/>
                <a:miter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006008" cy="4960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349616" y="459801"/>
              <a:ext cx="4289103" cy="1658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100">
                  <a:solidFill>
                    <a:srgbClr val="F2F3F4"/>
                  </a:solidFill>
                  <a:latin typeface="Pattanakarn Light"/>
                  <a:ea typeface="Pattanakarn Light"/>
                  <a:cs typeface="Pattanakarn Light"/>
                  <a:sym typeface="Pattanakarn Light"/>
                </a:rPr>
                <a:t>Shodan, the search engine for internet-connected devices, estimates that a brand-new cloud server exposed to the public internet is usually found, scanned, and probed by automated malicious bots within just</a:t>
              </a:r>
              <a:r>
                <a:rPr lang="en-US" sz="1100">
                  <a:solidFill>
                    <a:srgbClr val="36D8C3"/>
                  </a:solidFill>
                  <a:latin typeface="Pattanakarn Light"/>
                  <a:ea typeface="Pattanakarn Light"/>
                  <a:cs typeface="Pattanakarn Light"/>
                  <a:sym typeface="Pattanakarn Light"/>
                </a:rPr>
                <a:t> 5</a:t>
              </a:r>
              <a:r>
                <a:rPr lang="en-US" sz="1100">
                  <a:solidFill>
                    <a:srgbClr val="F2F3F4"/>
                  </a:solidFill>
                  <a:latin typeface="Pattanakarn Light"/>
                  <a:ea typeface="Pattanakarn Light"/>
                  <a:cs typeface="Pattanakarn Light"/>
                  <a:sym typeface="Pattanakarn Light"/>
                </a:rPr>
                <a:t> to </a:t>
              </a:r>
              <a:r>
                <a:rPr lang="en-US" sz="1100">
                  <a:solidFill>
                    <a:srgbClr val="36D8C3"/>
                  </a:solidFill>
                  <a:latin typeface="Pattanakarn Light"/>
                  <a:ea typeface="Pattanakarn Light"/>
                  <a:cs typeface="Pattanakarn Light"/>
                  <a:sym typeface="Pattanakarn Light"/>
                </a:rPr>
                <a:t>15</a:t>
              </a:r>
              <a:r>
                <a:rPr lang="en-US" sz="1100">
                  <a:solidFill>
                    <a:srgbClr val="F2F3F4"/>
                  </a:solidFill>
                  <a:latin typeface="Pattanakarn Light"/>
                  <a:ea typeface="Pattanakarn Light"/>
                  <a:cs typeface="Pattanakarn Light"/>
                  <a:sym typeface="Pattanakarn Light"/>
                </a:rPr>
                <a:t> </a:t>
              </a:r>
              <a:r>
                <a:rPr lang="en-US" sz="1100">
                  <a:solidFill>
                    <a:srgbClr val="36D8C3"/>
                  </a:solidFill>
                  <a:latin typeface="Pattanakarn Light"/>
                  <a:ea typeface="Pattanakarn Light"/>
                  <a:cs typeface="Pattanakarn Light"/>
                  <a:sym typeface="Pattanakarn Light"/>
                </a:rPr>
                <a:t>minutes </a:t>
              </a:r>
              <a:r>
                <a:rPr lang="en-US" sz="1100">
                  <a:solidFill>
                    <a:srgbClr val="F2F3F4"/>
                  </a:solidFill>
                  <a:latin typeface="Pattanakarn Light"/>
                  <a:ea typeface="Pattanakarn Light"/>
                  <a:cs typeface="Pattanakarn Light"/>
                  <a:sym typeface="Pattanakarn Light"/>
                </a:rPr>
                <a:t>of going live.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49616" y="248950"/>
              <a:ext cx="1027564" cy="1721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35"/>
                </a:lnSpc>
              </a:pPr>
              <a:r>
                <a:rPr lang="en-US" sz="862" b="1">
                  <a:solidFill>
                    <a:srgbClr val="36D8C3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Key stat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879" y="2356882"/>
            <a:ext cx="6468117" cy="7922268"/>
            <a:chOff x="0" y="0"/>
            <a:chExt cx="2400223" cy="21754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0223" cy="2175401"/>
            </a:xfrm>
            <a:custGeom>
              <a:avLst/>
              <a:gdLst/>
              <a:ahLst/>
              <a:cxnLst/>
              <a:rect l="l" t="t" r="r" b="b"/>
              <a:pathLst>
                <a:path w="2400223" h="2175401">
                  <a:moveTo>
                    <a:pt x="8495" y="0"/>
                  </a:moveTo>
                  <a:lnTo>
                    <a:pt x="2391727" y="0"/>
                  </a:lnTo>
                  <a:cubicBezTo>
                    <a:pt x="2396419" y="0"/>
                    <a:pt x="2400223" y="3803"/>
                    <a:pt x="2400223" y="8495"/>
                  </a:cubicBezTo>
                  <a:lnTo>
                    <a:pt x="2400223" y="2166906"/>
                  </a:lnTo>
                  <a:cubicBezTo>
                    <a:pt x="2400223" y="2169159"/>
                    <a:pt x="2399328" y="2171320"/>
                    <a:pt x="2397734" y="2172913"/>
                  </a:cubicBezTo>
                  <a:cubicBezTo>
                    <a:pt x="2396141" y="2174506"/>
                    <a:pt x="2393981" y="2175401"/>
                    <a:pt x="2391727" y="2175401"/>
                  </a:cubicBezTo>
                  <a:lnTo>
                    <a:pt x="8495" y="2175401"/>
                  </a:lnTo>
                  <a:cubicBezTo>
                    <a:pt x="6242" y="2175401"/>
                    <a:pt x="4081" y="2174506"/>
                    <a:pt x="2488" y="2172913"/>
                  </a:cubicBezTo>
                  <a:cubicBezTo>
                    <a:pt x="895" y="2171320"/>
                    <a:pt x="0" y="2169159"/>
                    <a:pt x="0" y="2166906"/>
                  </a:cubicBezTo>
                  <a:lnTo>
                    <a:pt x="0" y="8495"/>
                  </a:lnTo>
                  <a:cubicBezTo>
                    <a:pt x="0" y="6242"/>
                    <a:pt x="895" y="4081"/>
                    <a:pt x="2488" y="2488"/>
                  </a:cubicBezTo>
                  <a:cubicBezTo>
                    <a:pt x="4081" y="895"/>
                    <a:pt x="6242" y="0"/>
                    <a:pt x="8495" y="0"/>
                  </a:cubicBezTo>
                  <a:close/>
                </a:path>
              </a:pathLst>
            </a:custGeom>
            <a:solidFill>
              <a:srgbClr val="020B1B"/>
            </a:solidFill>
            <a:ln w="9525" cap="sq">
              <a:solidFill>
                <a:srgbClr val="36D8C3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0223" cy="2213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594540" y="9092732"/>
            <a:ext cx="1655678" cy="165568"/>
          </a:xfrm>
          <a:custGeom>
            <a:avLst/>
            <a:gdLst/>
            <a:ahLst/>
            <a:cxnLst/>
            <a:rect l="l" t="t" r="r" b="b"/>
            <a:pathLst>
              <a:path w="1655678" h="165568">
                <a:moveTo>
                  <a:pt x="0" y="0"/>
                </a:moveTo>
                <a:lnTo>
                  <a:pt x="1655678" y="0"/>
                </a:lnTo>
                <a:lnTo>
                  <a:pt x="1655678" y="165568"/>
                </a:lnTo>
                <a:lnTo>
                  <a:pt x="0" y="165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9107150"/>
            <a:ext cx="136733" cy="13673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8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20382" y="9107150"/>
            <a:ext cx="136733" cy="13673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24541" y="9107150"/>
            <a:ext cx="136733" cy="13673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8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6241" y="505108"/>
            <a:ext cx="16573059" cy="649536"/>
            <a:chOff x="0" y="0"/>
            <a:chExt cx="22097412" cy="866048"/>
          </a:xfrm>
        </p:grpSpPr>
        <p:sp>
          <p:nvSpPr>
            <p:cNvPr id="16" name="TextBox 16"/>
            <p:cNvSpPr txBox="1"/>
            <p:nvPr/>
          </p:nvSpPr>
          <p:spPr>
            <a:xfrm>
              <a:off x="12796836" y="287309"/>
              <a:ext cx="9300576" cy="578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036"/>
                </a:lnSpc>
              </a:pPr>
              <a:r>
                <a:rPr lang="en-US" sz="3300">
                  <a:solidFill>
                    <a:srgbClr val="F2F3F4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0</a:t>
              </a:r>
              <a:r>
                <a:rPr lang="en-US" sz="3300">
                  <a:solidFill>
                    <a:srgbClr val="36D8C3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3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741652" cy="866048"/>
            </a:xfrm>
            <a:custGeom>
              <a:avLst/>
              <a:gdLst/>
              <a:ahLst/>
              <a:cxnLst/>
              <a:rect l="l" t="t" r="r" b="b"/>
              <a:pathLst>
                <a:path w="741652" h="866048">
                  <a:moveTo>
                    <a:pt x="0" y="0"/>
                  </a:moveTo>
                  <a:lnTo>
                    <a:pt x="741652" y="0"/>
                  </a:lnTo>
                  <a:lnTo>
                    <a:pt x="741652" y="866048"/>
                  </a:lnTo>
                  <a:lnTo>
                    <a:pt x="0" y="866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988783" y="275902"/>
              <a:ext cx="4750721" cy="578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6"/>
                </a:lnSpc>
              </a:pPr>
              <a:r>
                <a:rPr lang="en-US" sz="3300">
                  <a:solidFill>
                    <a:srgbClr val="F2F3F4"/>
                  </a:solidFill>
                  <a:latin typeface="Pattanakarn Light"/>
                  <a:ea typeface="Pattanakarn Light"/>
                  <a:cs typeface="Pattanakarn Light"/>
                  <a:sym typeface="Pattanakarn Light"/>
                </a:rPr>
                <a:t>BreachPoint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91434" y="2356882"/>
            <a:ext cx="11502758" cy="7933153"/>
            <a:chOff x="0" y="0"/>
            <a:chExt cx="3433782" cy="217540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433782" cy="2175401"/>
            </a:xfrm>
            <a:custGeom>
              <a:avLst/>
              <a:gdLst/>
              <a:ahLst/>
              <a:cxnLst/>
              <a:rect l="l" t="t" r="r" b="b"/>
              <a:pathLst>
                <a:path w="3433782" h="2175401">
                  <a:moveTo>
                    <a:pt x="5938" y="0"/>
                  </a:moveTo>
                  <a:lnTo>
                    <a:pt x="3427844" y="0"/>
                  </a:lnTo>
                  <a:cubicBezTo>
                    <a:pt x="3429419" y="0"/>
                    <a:pt x="3430929" y="626"/>
                    <a:pt x="3432043" y="1739"/>
                  </a:cubicBezTo>
                  <a:cubicBezTo>
                    <a:pt x="3433157" y="2853"/>
                    <a:pt x="3433782" y="4363"/>
                    <a:pt x="3433782" y="5938"/>
                  </a:cubicBezTo>
                  <a:lnTo>
                    <a:pt x="3433782" y="2169463"/>
                  </a:lnTo>
                  <a:cubicBezTo>
                    <a:pt x="3433782" y="2172742"/>
                    <a:pt x="3431124" y="2175401"/>
                    <a:pt x="3427844" y="2175401"/>
                  </a:cubicBezTo>
                  <a:lnTo>
                    <a:pt x="5938" y="2175401"/>
                  </a:lnTo>
                  <a:cubicBezTo>
                    <a:pt x="2659" y="2175401"/>
                    <a:pt x="0" y="2172742"/>
                    <a:pt x="0" y="2169463"/>
                  </a:cubicBezTo>
                  <a:lnTo>
                    <a:pt x="0" y="5938"/>
                  </a:lnTo>
                  <a:cubicBezTo>
                    <a:pt x="0" y="2659"/>
                    <a:pt x="2659" y="0"/>
                    <a:pt x="5938" y="0"/>
                  </a:cubicBezTo>
                  <a:close/>
                </a:path>
              </a:pathLst>
            </a:custGeom>
            <a:solidFill>
              <a:srgbClr val="020B1B"/>
            </a:solidFill>
            <a:ln w="9525" cap="sq">
              <a:solidFill>
                <a:srgbClr val="36D8C3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433782" cy="2213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63659" y="3813771"/>
            <a:ext cx="136733" cy="136733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8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63659" y="4602441"/>
            <a:ext cx="136733" cy="136733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8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63659" y="5054054"/>
            <a:ext cx="139629" cy="136733"/>
            <a:chOff x="0" y="0"/>
            <a:chExt cx="830018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30018" cy="812800"/>
            </a:xfrm>
            <a:custGeom>
              <a:avLst/>
              <a:gdLst/>
              <a:ahLst/>
              <a:cxnLst/>
              <a:rect l="l" t="t" r="r" b="b"/>
              <a:pathLst>
                <a:path w="830018" h="812800">
                  <a:moveTo>
                    <a:pt x="415009" y="0"/>
                  </a:moveTo>
                  <a:cubicBezTo>
                    <a:pt x="185806" y="0"/>
                    <a:pt x="0" y="181951"/>
                    <a:pt x="0" y="406400"/>
                  </a:cubicBezTo>
                  <a:cubicBezTo>
                    <a:pt x="0" y="630849"/>
                    <a:pt x="185806" y="812800"/>
                    <a:pt x="415009" y="812800"/>
                  </a:cubicBezTo>
                  <a:cubicBezTo>
                    <a:pt x="644212" y="812800"/>
                    <a:pt x="830018" y="630849"/>
                    <a:pt x="830018" y="406400"/>
                  </a:cubicBezTo>
                  <a:cubicBezTo>
                    <a:pt x="830018" y="181951"/>
                    <a:pt x="644212" y="0"/>
                    <a:pt x="415009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7814" y="114300"/>
              <a:ext cx="67439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8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63659" y="5464086"/>
            <a:ext cx="140225" cy="136733"/>
            <a:chOff x="0" y="0"/>
            <a:chExt cx="833559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33559" cy="812800"/>
            </a:xfrm>
            <a:custGeom>
              <a:avLst/>
              <a:gdLst/>
              <a:ahLst/>
              <a:cxnLst/>
              <a:rect l="l" t="t" r="r" b="b"/>
              <a:pathLst>
                <a:path w="833559" h="812800">
                  <a:moveTo>
                    <a:pt x="416780" y="0"/>
                  </a:moveTo>
                  <a:cubicBezTo>
                    <a:pt x="186599" y="0"/>
                    <a:pt x="0" y="181951"/>
                    <a:pt x="0" y="406400"/>
                  </a:cubicBezTo>
                  <a:cubicBezTo>
                    <a:pt x="0" y="630849"/>
                    <a:pt x="186599" y="812800"/>
                    <a:pt x="416780" y="812800"/>
                  </a:cubicBezTo>
                  <a:cubicBezTo>
                    <a:pt x="646961" y="812800"/>
                    <a:pt x="833559" y="630849"/>
                    <a:pt x="833559" y="406400"/>
                  </a:cubicBezTo>
                  <a:cubicBezTo>
                    <a:pt x="833559" y="181951"/>
                    <a:pt x="646961" y="0"/>
                    <a:pt x="41678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8146" y="114300"/>
              <a:ext cx="677267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8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63659" y="5874118"/>
            <a:ext cx="136733" cy="136733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8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75081" y="6253152"/>
            <a:ext cx="136733" cy="136733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8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63659" y="6660822"/>
            <a:ext cx="132827" cy="136733"/>
            <a:chOff x="0" y="0"/>
            <a:chExt cx="789582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89582" cy="812800"/>
            </a:xfrm>
            <a:custGeom>
              <a:avLst/>
              <a:gdLst/>
              <a:ahLst/>
              <a:cxnLst/>
              <a:rect l="l" t="t" r="r" b="b"/>
              <a:pathLst>
                <a:path w="789582" h="812800">
                  <a:moveTo>
                    <a:pt x="394791" y="0"/>
                  </a:moveTo>
                  <a:cubicBezTo>
                    <a:pt x="176754" y="0"/>
                    <a:pt x="0" y="181951"/>
                    <a:pt x="0" y="406400"/>
                  </a:cubicBezTo>
                  <a:cubicBezTo>
                    <a:pt x="0" y="630849"/>
                    <a:pt x="176754" y="812800"/>
                    <a:pt x="394791" y="812800"/>
                  </a:cubicBezTo>
                  <a:cubicBezTo>
                    <a:pt x="612828" y="812800"/>
                    <a:pt x="789582" y="630849"/>
                    <a:pt x="789582" y="406400"/>
                  </a:cubicBezTo>
                  <a:cubicBezTo>
                    <a:pt x="789582" y="181951"/>
                    <a:pt x="612828" y="0"/>
                    <a:pt x="394791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4023" y="114300"/>
              <a:ext cx="641536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8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 flipV="1">
            <a:off x="-109050" y="7266398"/>
            <a:ext cx="2030848" cy="878803"/>
          </a:xfrm>
          <a:custGeom>
            <a:avLst/>
            <a:gdLst/>
            <a:ahLst/>
            <a:cxnLst/>
            <a:rect l="l" t="t" r="r" b="b"/>
            <a:pathLst>
              <a:path w="2030848" h="878803">
                <a:moveTo>
                  <a:pt x="0" y="878804"/>
                </a:moveTo>
                <a:lnTo>
                  <a:pt x="2030848" y="878804"/>
                </a:lnTo>
                <a:lnTo>
                  <a:pt x="2030848" y="0"/>
                </a:lnTo>
                <a:lnTo>
                  <a:pt x="0" y="0"/>
                </a:lnTo>
                <a:lnTo>
                  <a:pt x="0" y="87880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6802321" y="7948115"/>
            <a:ext cx="4745768" cy="1695978"/>
            <a:chOff x="0" y="0"/>
            <a:chExt cx="6429291" cy="2377416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6429291" cy="2377416"/>
              <a:chOff x="0" y="0"/>
              <a:chExt cx="1089183" cy="402757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089183" cy="402757"/>
              </a:xfrm>
              <a:custGeom>
                <a:avLst/>
                <a:gdLst/>
                <a:ahLst/>
                <a:cxnLst/>
                <a:rect l="l" t="t" r="r" b="b"/>
                <a:pathLst>
                  <a:path w="1089183" h="402757">
                    <a:moveTo>
                      <a:pt x="18721" y="0"/>
                    </a:moveTo>
                    <a:lnTo>
                      <a:pt x="1070462" y="0"/>
                    </a:lnTo>
                    <a:cubicBezTo>
                      <a:pt x="1080801" y="0"/>
                      <a:pt x="1089183" y="8382"/>
                      <a:pt x="1089183" y="18721"/>
                    </a:cubicBezTo>
                    <a:lnTo>
                      <a:pt x="1089183" y="384036"/>
                    </a:lnTo>
                    <a:cubicBezTo>
                      <a:pt x="1089183" y="389001"/>
                      <a:pt x="1087210" y="393763"/>
                      <a:pt x="1083699" y="397274"/>
                    </a:cubicBezTo>
                    <a:cubicBezTo>
                      <a:pt x="1080189" y="400784"/>
                      <a:pt x="1075427" y="402757"/>
                      <a:pt x="1070462" y="402757"/>
                    </a:cubicBezTo>
                    <a:lnTo>
                      <a:pt x="18721" y="402757"/>
                    </a:lnTo>
                    <a:cubicBezTo>
                      <a:pt x="13756" y="402757"/>
                      <a:pt x="8994" y="400784"/>
                      <a:pt x="5483" y="397274"/>
                    </a:cubicBezTo>
                    <a:cubicBezTo>
                      <a:pt x="1972" y="393763"/>
                      <a:pt x="0" y="389001"/>
                      <a:pt x="0" y="384036"/>
                    </a:cubicBezTo>
                    <a:lnTo>
                      <a:pt x="0" y="18721"/>
                    </a:lnTo>
                    <a:cubicBezTo>
                      <a:pt x="0" y="13756"/>
                      <a:pt x="1972" y="8994"/>
                      <a:pt x="5483" y="5483"/>
                    </a:cubicBezTo>
                    <a:cubicBezTo>
                      <a:pt x="8994" y="1972"/>
                      <a:pt x="13756" y="0"/>
                      <a:pt x="18721" y="0"/>
                    </a:cubicBezTo>
                    <a:close/>
                  </a:path>
                </a:pathLst>
              </a:custGeom>
              <a:solidFill>
                <a:srgbClr val="020B1B"/>
              </a:solidFill>
              <a:ln w="9525" cap="sq">
                <a:solidFill>
                  <a:srgbClr val="36D8C3"/>
                </a:solidFill>
                <a:prstDash val="solid"/>
                <a:miter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38100"/>
                <a:ext cx="1089183" cy="4408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441355" y="532926"/>
              <a:ext cx="5414558" cy="1611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23"/>
                </a:lnSpc>
              </a:pPr>
              <a:r>
                <a:rPr lang="en-US" sz="1282">
                  <a:solidFill>
                    <a:srgbClr val="F2F3F4"/>
                  </a:solidFill>
                  <a:latin typeface="Pattanakarn Light"/>
                  <a:ea typeface="Pattanakarn Light"/>
                  <a:cs typeface="Pattanakarn Light"/>
                  <a:sym typeface="Pattanakarn Light"/>
                </a:rPr>
                <a:t>Industry data shows that up to 30% to 35% of an enterprise's cloud budget is completely wasted on 'cloud sprawl'—unused or over-provisioned virtual machines and unmonitored variable data egress fees.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41355" y="280750"/>
              <a:ext cx="1297195" cy="210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06"/>
                </a:lnSpc>
              </a:pPr>
              <a:r>
                <a:rPr lang="en-US" sz="1005" b="1">
                  <a:solidFill>
                    <a:srgbClr val="36D8C3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Key stat</a:t>
              </a:r>
            </a:p>
          </p:txBody>
        </p:sp>
      </p:grpSp>
      <p:sp>
        <p:nvSpPr>
          <p:cNvPr id="50" name="Freeform 50"/>
          <p:cNvSpPr/>
          <p:nvPr/>
        </p:nvSpPr>
        <p:spPr>
          <a:xfrm>
            <a:off x="31501" y="2519232"/>
            <a:ext cx="1023679" cy="575819"/>
          </a:xfrm>
          <a:custGeom>
            <a:avLst/>
            <a:gdLst/>
            <a:ahLst/>
            <a:cxnLst/>
            <a:rect l="l" t="t" r="r" b="b"/>
            <a:pathLst>
              <a:path w="1023679" h="575819">
                <a:moveTo>
                  <a:pt x="0" y="0"/>
                </a:moveTo>
                <a:lnTo>
                  <a:pt x="1023679" y="0"/>
                </a:lnTo>
                <a:lnTo>
                  <a:pt x="1023679" y="575820"/>
                </a:lnTo>
                <a:lnTo>
                  <a:pt x="0" y="575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4355042" y="7990774"/>
            <a:ext cx="1897142" cy="1610661"/>
          </a:xfrm>
          <a:custGeom>
            <a:avLst/>
            <a:gdLst/>
            <a:ahLst/>
            <a:cxnLst/>
            <a:rect l="l" t="t" r="r" b="b"/>
            <a:pathLst>
              <a:path w="1897142" h="1610661">
                <a:moveTo>
                  <a:pt x="0" y="0"/>
                </a:moveTo>
                <a:lnTo>
                  <a:pt x="1897142" y="0"/>
                </a:lnTo>
                <a:lnTo>
                  <a:pt x="1897142" y="1610661"/>
                </a:lnTo>
                <a:lnTo>
                  <a:pt x="0" y="1610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2"/>
          <p:cNvSpPr txBox="1"/>
          <p:nvPr/>
        </p:nvSpPr>
        <p:spPr>
          <a:xfrm>
            <a:off x="514757" y="3699226"/>
            <a:ext cx="5248104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18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VM: $82.32/year (B2ats v2, 2 vCPU/1GiB, no free tier assumed)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14757" y="4487896"/>
            <a:ext cx="5248104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18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 Storage: 30GB Standard SSD — $28.80/year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15839" y="4939508"/>
            <a:ext cx="2856119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18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Public IP: $43.80/year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16062" y="5349540"/>
            <a:ext cx="5382143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18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 Domain: Free (breachpoint.ddns.net via No-IP)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14757" y="5759572"/>
            <a:ext cx="5744365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18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Bandwidth: $0 (under the 100GB/month free tier)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43448" y="6127208"/>
            <a:ext cx="3639012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18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Installation/Maintenance: Free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96486" y="6534878"/>
            <a:ext cx="4981321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18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Security (SSL): Free (Let's Encrypt/Certbot)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06374" y="2748978"/>
            <a:ext cx="3563040" cy="412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3300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zure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-385934" y="3277965"/>
            <a:ext cx="6073604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spc="20">
                <a:solidFill>
                  <a:srgbClr val="36D8C3"/>
                </a:solidFill>
                <a:latin typeface="Pattanakarn"/>
                <a:ea typeface="Pattanakarn"/>
                <a:cs typeface="Pattanakarn"/>
                <a:sym typeface="Pattanakarn"/>
              </a:rPr>
              <a:t>SUMMARY </a:t>
            </a:r>
            <a:r>
              <a:rPr lang="en-US" sz="2000" spc="2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—</a:t>
            </a:r>
            <a:r>
              <a:rPr lang="en-US" sz="2000" spc="20">
                <a:solidFill>
                  <a:srgbClr val="36D8C3"/>
                </a:solidFill>
                <a:latin typeface="Pattanakarn"/>
                <a:ea typeface="Pattanakarn"/>
                <a:cs typeface="Pattanakarn"/>
                <a:sym typeface="Pattanakarn"/>
              </a:rPr>
              <a:t> </a:t>
            </a:r>
            <a:r>
              <a:rPr lang="en-US" sz="2000" spc="2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 (Standard_B2ats_v2)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6802359" y="7006965"/>
            <a:ext cx="11359236" cy="259433"/>
            <a:chOff x="0" y="0"/>
            <a:chExt cx="15145647" cy="345911"/>
          </a:xfrm>
        </p:grpSpPr>
        <p:sp>
          <p:nvSpPr>
            <p:cNvPr id="62" name="TextBox 62"/>
            <p:cNvSpPr txBox="1"/>
            <p:nvPr/>
          </p:nvSpPr>
          <p:spPr>
            <a:xfrm>
              <a:off x="13373284" y="-28575"/>
              <a:ext cx="1772363" cy="37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2397"/>
                </a:lnSpc>
                <a:spcBef>
                  <a:spcPct val="0"/>
                </a:spcBef>
              </a:pPr>
              <a:r>
                <a:rPr lang="en-US" sz="1712" b="1" u="none" strike="noStrike">
                  <a:solidFill>
                    <a:srgbClr val="36D8C3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$774.60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278674" y="-28575"/>
              <a:ext cx="1772363" cy="37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2397"/>
                </a:lnSpc>
                <a:spcBef>
                  <a:spcPct val="0"/>
                </a:spcBef>
              </a:pPr>
              <a:r>
                <a:rPr lang="en-US" sz="1712" b="1" u="none" strike="noStrike">
                  <a:solidFill>
                    <a:srgbClr val="36D8C3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$154.92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184063" y="-28575"/>
              <a:ext cx="1772363" cy="37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2397"/>
                </a:lnSpc>
                <a:spcBef>
                  <a:spcPct val="0"/>
                </a:spcBef>
              </a:pPr>
              <a:r>
                <a:rPr lang="en-US" sz="1712" b="1" u="none" strike="noStrike">
                  <a:solidFill>
                    <a:srgbClr val="36D8C3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$154.92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89452" y="-28575"/>
              <a:ext cx="1772363" cy="37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2397"/>
                </a:lnSpc>
                <a:spcBef>
                  <a:spcPct val="0"/>
                </a:spcBef>
              </a:pPr>
              <a:r>
                <a:rPr lang="en-US" sz="1712" b="1" u="none" strike="noStrike">
                  <a:solidFill>
                    <a:srgbClr val="36D8C3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$154.92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994841" y="-28575"/>
              <a:ext cx="1772363" cy="37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2397"/>
                </a:lnSpc>
                <a:spcBef>
                  <a:spcPct val="0"/>
                </a:spcBef>
              </a:pPr>
              <a:r>
                <a:rPr lang="en-US" sz="1712" b="1" u="none" strike="noStrike">
                  <a:solidFill>
                    <a:srgbClr val="36D8C3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$154.92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900230" y="-28575"/>
              <a:ext cx="1772363" cy="37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2397"/>
                </a:lnSpc>
                <a:spcBef>
                  <a:spcPct val="0"/>
                </a:spcBef>
              </a:pPr>
              <a:r>
                <a:rPr lang="en-US" sz="1712" b="1" u="none" strike="noStrike">
                  <a:solidFill>
                    <a:srgbClr val="36D8C3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$154.92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28575"/>
              <a:ext cx="2577983" cy="37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397"/>
                </a:lnSpc>
                <a:spcBef>
                  <a:spcPct val="0"/>
                </a:spcBef>
              </a:pPr>
              <a:r>
                <a:rPr lang="en-US" sz="1712" b="1" u="none" strike="noStrike">
                  <a:solidFill>
                    <a:srgbClr val="36D8C3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TOTAL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6832322" y="6595705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$0.00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5261364" y="6595705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3690406" y="6595705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2119448" y="6595705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548490" y="6595705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977531" y="6595705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802359" y="6595705"/>
            <a:ext cx="1933487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Security (SSL)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6832322" y="6083052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$0.00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261364" y="6083052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3690406" y="6083052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2119448" y="6083052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0548490" y="6083052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8977531" y="6083052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802359" y="6083052"/>
            <a:ext cx="1933487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Network Traffic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6832322" y="5570400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$0.00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5261364" y="5570400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3690406" y="5570400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2119448" y="5570400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0548490" y="5570400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8977531" y="5570400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802359" y="5570400"/>
            <a:ext cx="1933487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Maintenance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6832322" y="5057747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$0.00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5261364" y="5057747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3690406" y="5057747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2119448" y="5057747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0548490" y="5057747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8977531" y="5057747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802359" y="5057747"/>
            <a:ext cx="1933487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Installation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6832322" y="4545095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$0.00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5261364" y="4545095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3690406" y="4545095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2119448" y="4545095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0548490" y="4545095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8977531" y="4545095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802359" y="4545095"/>
            <a:ext cx="1933487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Domain Name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6832322" y="4032442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$219.00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5261364" y="4032442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$43.80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3690406" y="4032442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$43.80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2119448" y="4032442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$43.80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0548490" y="4032442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$43.80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977531" y="4032442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$43.80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6802359" y="4032442"/>
            <a:ext cx="1933487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Public IP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6832322" y="3519790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$144.00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5261364" y="3519790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$28.80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3690406" y="3519790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$28.80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2119448" y="3519790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$28.80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0548490" y="3519790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$28.80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8977531" y="3519790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$28.80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6802359" y="3519790"/>
            <a:ext cx="1933487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Storage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6832322" y="3007138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$411.60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5261364" y="3007138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$82.32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3690406" y="3007138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$82.32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2119448" y="3007138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$82.32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548490" y="3007138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$82.32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8977531" y="3007138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$82.32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6802359" y="3007138"/>
            <a:ext cx="1933487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7"/>
              </a:lnSpc>
            </a:pPr>
            <a:r>
              <a:rPr lang="en-US" sz="1712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Virtual Machine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6832322" y="2346848"/>
            <a:ext cx="1329272" cy="575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5-Year Total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5261364" y="2494485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Year 5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13690406" y="2494485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Year 4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12119448" y="2494485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Year 3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0548490" y="2494485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Year 2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8977531" y="2494485"/>
            <a:ext cx="1329272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7"/>
              </a:lnSpc>
            </a:pPr>
            <a:r>
              <a:rPr lang="en-US" sz="1712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Year 1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6802359" y="2494485"/>
            <a:ext cx="1933487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7"/>
              </a:lnSpc>
            </a:pPr>
            <a:r>
              <a:rPr lang="en-US" sz="1712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Cost Category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586" y="2359480"/>
            <a:ext cx="6491057" cy="7900496"/>
            <a:chOff x="0" y="0"/>
            <a:chExt cx="2368993" cy="21754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993" cy="2175401"/>
            </a:xfrm>
            <a:custGeom>
              <a:avLst/>
              <a:gdLst/>
              <a:ahLst/>
              <a:cxnLst/>
              <a:rect l="l" t="t" r="r" b="b"/>
              <a:pathLst>
                <a:path w="2368993" h="2175401">
                  <a:moveTo>
                    <a:pt x="8607" y="0"/>
                  </a:moveTo>
                  <a:lnTo>
                    <a:pt x="2360386" y="0"/>
                  </a:lnTo>
                  <a:cubicBezTo>
                    <a:pt x="2362669" y="0"/>
                    <a:pt x="2364858" y="907"/>
                    <a:pt x="2366472" y="2521"/>
                  </a:cubicBezTo>
                  <a:cubicBezTo>
                    <a:pt x="2368086" y="4135"/>
                    <a:pt x="2368993" y="6324"/>
                    <a:pt x="2368993" y="8607"/>
                  </a:cubicBezTo>
                  <a:lnTo>
                    <a:pt x="2368993" y="2166794"/>
                  </a:lnTo>
                  <a:cubicBezTo>
                    <a:pt x="2368993" y="2169077"/>
                    <a:pt x="2368086" y="2171266"/>
                    <a:pt x="2366472" y="2172880"/>
                  </a:cubicBezTo>
                  <a:cubicBezTo>
                    <a:pt x="2364858" y="2174494"/>
                    <a:pt x="2362669" y="2175401"/>
                    <a:pt x="2360386" y="2175401"/>
                  </a:cubicBezTo>
                  <a:lnTo>
                    <a:pt x="8607" y="2175401"/>
                  </a:lnTo>
                  <a:cubicBezTo>
                    <a:pt x="6324" y="2175401"/>
                    <a:pt x="4135" y="2174494"/>
                    <a:pt x="2521" y="2172880"/>
                  </a:cubicBezTo>
                  <a:cubicBezTo>
                    <a:pt x="907" y="2171266"/>
                    <a:pt x="0" y="2169077"/>
                    <a:pt x="0" y="2166794"/>
                  </a:cubicBezTo>
                  <a:lnTo>
                    <a:pt x="0" y="8607"/>
                  </a:lnTo>
                  <a:cubicBezTo>
                    <a:pt x="0" y="6324"/>
                    <a:pt x="907" y="4135"/>
                    <a:pt x="2521" y="2521"/>
                  </a:cubicBezTo>
                  <a:cubicBezTo>
                    <a:pt x="4135" y="907"/>
                    <a:pt x="6324" y="0"/>
                    <a:pt x="8607" y="0"/>
                  </a:cubicBezTo>
                  <a:close/>
                </a:path>
              </a:pathLst>
            </a:custGeom>
            <a:solidFill>
              <a:srgbClr val="020B1B"/>
            </a:solidFill>
            <a:ln w="9525" cap="sq">
              <a:solidFill>
                <a:srgbClr val="36D8C3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68993" cy="2213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86241" y="505108"/>
            <a:ext cx="16573059" cy="649536"/>
            <a:chOff x="0" y="0"/>
            <a:chExt cx="22097412" cy="866048"/>
          </a:xfrm>
        </p:grpSpPr>
        <p:sp>
          <p:nvSpPr>
            <p:cNvPr id="6" name="TextBox 6"/>
            <p:cNvSpPr txBox="1"/>
            <p:nvPr/>
          </p:nvSpPr>
          <p:spPr>
            <a:xfrm>
              <a:off x="12796836" y="287309"/>
              <a:ext cx="9300576" cy="578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036"/>
                </a:lnSpc>
              </a:pPr>
              <a:r>
                <a:rPr lang="en-US" sz="3300">
                  <a:solidFill>
                    <a:srgbClr val="F2F3F4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0</a:t>
              </a:r>
              <a:r>
                <a:rPr lang="en-US" sz="3300">
                  <a:solidFill>
                    <a:srgbClr val="36D8C3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4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741652" cy="866048"/>
            </a:xfrm>
            <a:custGeom>
              <a:avLst/>
              <a:gdLst/>
              <a:ahLst/>
              <a:cxnLst/>
              <a:rect l="l" t="t" r="r" b="b"/>
              <a:pathLst>
                <a:path w="741652" h="866048">
                  <a:moveTo>
                    <a:pt x="0" y="0"/>
                  </a:moveTo>
                  <a:lnTo>
                    <a:pt x="741652" y="0"/>
                  </a:lnTo>
                  <a:lnTo>
                    <a:pt x="741652" y="866048"/>
                  </a:lnTo>
                  <a:lnTo>
                    <a:pt x="0" y="866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988783" y="275902"/>
              <a:ext cx="4750721" cy="578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6"/>
                </a:lnSpc>
              </a:pPr>
              <a:r>
                <a:rPr lang="en-US" sz="3300">
                  <a:solidFill>
                    <a:srgbClr val="F2F3F4"/>
                  </a:solidFill>
                  <a:latin typeface="Pattanakarn Light"/>
                  <a:ea typeface="Pattanakarn Light"/>
                  <a:cs typeface="Pattanakarn Light"/>
                  <a:sym typeface="Pattanakarn Light"/>
                </a:rPr>
                <a:t>BreachPoint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47892" y="2367767"/>
            <a:ext cx="11546300" cy="7911382"/>
            <a:chOff x="0" y="0"/>
            <a:chExt cx="3433782" cy="21754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33782" cy="2175401"/>
            </a:xfrm>
            <a:custGeom>
              <a:avLst/>
              <a:gdLst/>
              <a:ahLst/>
              <a:cxnLst/>
              <a:rect l="l" t="t" r="r" b="b"/>
              <a:pathLst>
                <a:path w="3433782" h="2175401">
                  <a:moveTo>
                    <a:pt x="5938" y="0"/>
                  </a:moveTo>
                  <a:lnTo>
                    <a:pt x="3427844" y="0"/>
                  </a:lnTo>
                  <a:cubicBezTo>
                    <a:pt x="3429419" y="0"/>
                    <a:pt x="3430929" y="626"/>
                    <a:pt x="3432043" y="1739"/>
                  </a:cubicBezTo>
                  <a:cubicBezTo>
                    <a:pt x="3433157" y="2853"/>
                    <a:pt x="3433782" y="4363"/>
                    <a:pt x="3433782" y="5938"/>
                  </a:cubicBezTo>
                  <a:lnTo>
                    <a:pt x="3433782" y="2169463"/>
                  </a:lnTo>
                  <a:cubicBezTo>
                    <a:pt x="3433782" y="2172742"/>
                    <a:pt x="3431124" y="2175401"/>
                    <a:pt x="3427844" y="2175401"/>
                  </a:cubicBezTo>
                  <a:lnTo>
                    <a:pt x="5938" y="2175401"/>
                  </a:lnTo>
                  <a:cubicBezTo>
                    <a:pt x="2659" y="2175401"/>
                    <a:pt x="0" y="2172742"/>
                    <a:pt x="0" y="2169463"/>
                  </a:cubicBezTo>
                  <a:lnTo>
                    <a:pt x="0" y="5938"/>
                  </a:lnTo>
                  <a:cubicBezTo>
                    <a:pt x="0" y="2659"/>
                    <a:pt x="2659" y="0"/>
                    <a:pt x="5938" y="0"/>
                  </a:cubicBezTo>
                  <a:close/>
                </a:path>
              </a:pathLst>
            </a:custGeom>
            <a:solidFill>
              <a:srgbClr val="020B1B"/>
            </a:solidFill>
            <a:ln w="9525" cap="sq">
              <a:solidFill>
                <a:srgbClr val="36D8C3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433782" cy="2213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34978" y="7948115"/>
            <a:ext cx="4713111" cy="1983854"/>
            <a:chOff x="0" y="0"/>
            <a:chExt cx="6429291" cy="2703195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429291" cy="2703195"/>
              <a:chOff x="0" y="0"/>
              <a:chExt cx="1089183" cy="45794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089183" cy="457947"/>
              </a:xfrm>
              <a:custGeom>
                <a:avLst/>
                <a:gdLst/>
                <a:ahLst/>
                <a:cxnLst/>
                <a:rect l="l" t="t" r="r" b="b"/>
                <a:pathLst>
                  <a:path w="1089183" h="457947">
                    <a:moveTo>
                      <a:pt x="18721" y="0"/>
                    </a:moveTo>
                    <a:lnTo>
                      <a:pt x="1070462" y="0"/>
                    </a:lnTo>
                    <a:cubicBezTo>
                      <a:pt x="1080801" y="0"/>
                      <a:pt x="1089183" y="8382"/>
                      <a:pt x="1089183" y="18721"/>
                    </a:cubicBezTo>
                    <a:lnTo>
                      <a:pt x="1089183" y="439226"/>
                    </a:lnTo>
                    <a:cubicBezTo>
                      <a:pt x="1089183" y="444191"/>
                      <a:pt x="1087210" y="448953"/>
                      <a:pt x="1083699" y="452464"/>
                    </a:cubicBezTo>
                    <a:cubicBezTo>
                      <a:pt x="1080189" y="455974"/>
                      <a:pt x="1075427" y="457947"/>
                      <a:pt x="1070462" y="457947"/>
                    </a:cubicBezTo>
                    <a:lnTo>
                      <a:pt x="18721" y="457947"/>
                    </a:lnTo>
                    <a:cubicBezTo>
                      <a:pt x="13756" y="457947"/>
                      <a:pt x="8994" y="455974"/>
                      <a:pt x="5483" y="452464"/>
                    </a:cubicBezTo>
                    <a:cubicBezTo>
                      <a:pt x="1972" y="448953"/>
                      <a:pt x="0" y="444191"/>
                      <a:pt x="0" y="439226"/>
                    </a:cubicBezTo>
                    <a:lnTo>
                      <a:pt x="0" y="18721"/>
                    </a:lnTo>
                    <a:cubicBezTo>
                      <a:pt x="0" y="13756"/>
                      <a:pt x="1972" y="8994"/>
                      <a:pt x="5483" y="5483"/>
                    </a:cubicBezTo>
                    <a:cubicBezTo>
                      <a:pt x="8994" y="1972"/>
                      <a:pt x="13756" y="0"/>
                      <a:pt x="18721" y="0"/>
                    </a:cubicBezTo>
                    <a:close/>
                  </a:path>
                </a:pathLst>
              </a:custGeom>
              <a:solidFill>
                <a:srgbClr val="020B1B"/>
              </a:solidFill>
              <a:ln w="9525" cap="sq">
                <a:solidFill>
                  <a:srgbClr val="36D8C3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089183" cy="4960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41355" y="532926"/>
              <a:ext cx="5414558" cy="1937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23"/>
                </a:lnSpc>
              </a:pPr>
              <a:r>
                <a:rPr lang="en-US" sz="1282">
                  <a:solidFill>
                    <a:srgbClr val="F2F3F4"/>
                  </a:solidFill>
                  <a:latin typeface="Pattanakarn Light"/>
                  <a:ea typeface="Pattanakarn Light"/>
                  <a:cs typeface="Pattanakarn Light"/>
                  <a:sym typeface="Pattanakarn Light"/>
                </a:rPr>
                <a:t>A basic outbound network ping or banner query uses less than 1 KB of data. But when BreachPoint scales up to actively scan thousands of ports across a massive enterprise network daily, those tiny packets aggregate into hundreds of gigabytes of data egress per month.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1355" y="280750"/>
              <a:ext cx="1297195" cy="210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06"/>
                </a:lnSpc>
              </a:pPr>
              <a:r>
                <a:rPr lang="en-US" sz="1005" b="1">
                  <a:solidFill>
                    <a:srgbClr val="36D8C3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Key stat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67553" y="2566074"/>
            <a:ext cx="724585" cy="724585"/>
          </a:xfrm>
          <a:custGeom>
            <a:avLst/>
            <a:gdLst/>
            <a:ahLst/>
            <a:cxnLst/>
            <a:rect l="l" t="t" r="r" b="b"/>
            <a:pathLst>
              <a:path w="724585" h="724585">
                <a:moveTo>
                  <a:pt x="0" y="0"/>
                </a:moveTo>
                <a:lnTo>
                  <a:pt x="724585" y="0"/>
                </a:lnTo>
                <a:lnTo>
                  <a:pt x="724585" y="724584"/>
                </a:lnTo>
                <a:lnTo>
                  <a:pt x="0" y="7245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60" t="-4260" r="-4260" b="-4260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-284823" y="3408327"/>
            <a:ext cx="607695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400"/>
              </a:lnSpc>
              <a:spcBef>
                <a:spcPct val="0"/>
              </a:spcBef>
            </a:pPr>
            <a:r>
              <a:rPr lang="en-US" sz="2000" u="none" strike="noStrike" spc="20">
                <a:solidFill>
                  <a:srgbClr val="36D8C3"/>
                </a:solidFill>
                <a:latin typeface="Pattanakarn"/>
                <a:ea typeface="Pattanakarn"/>
                <a:cs typeface="Pattanakarn"/>
                <a:sym typeface="Pattanakarn"/>
              </a:rPr>
              <a:t>SUMMARY </a:t>
            </a:r>
            <a:r>
              <a:rPr lang="en-US" sz="2000" u="none" strike="noStrike" spc="2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—</a:t>
            </a:r>
            <a:r>
              <a:rPr lang="en-US" sz="2000" u="none" strike="noStrike" spc="20">
                <a:solidFill>
                  <a:srgbClr val="36D8C3"/>
                </a:solidFill>
                <a:latin typeface="Pattanakarn"/>
                <a:ea typeface="Pattanakarn"/>
                <a:cs typeface="Pattanakarn"/>
                <a:sym typeface="Pattanakarn"/>
              </a:rPr>
              <a:t> </a:t>
            </a:r>
            <a:r>
              <a:rPr lang="en-US" sz="2000" u="none" strike="noStrike" spc="2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Framer (Basic Plan)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02359" y="6982218"/>
            <a:ext cx="1933487" cy="2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7"/>
              </a:lnSpc>
              <a:spcBef>
                <a:spcPct val="0"/>
              </a:spcBef>
            </a:pPr>
            <a:r>
              <a:rPr lang="en-US" sz="1712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TOTAL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00850" y="2486025"/>
            <a:ext cx="1933575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4"/>
              </a:lnSpc>
              <a:spcBef>
                <a:spcPct val="0"/>
              </a:spcBef>
            </a:pPr>
            <a:r>
              <a:rPr lang="en-US" sz="1710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Cost Category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982075" y="24860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Year 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44175" y="24860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Year 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15800" y="24860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Year 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87425" y="24860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Year 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259050" y="24860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Year 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830675" y="2352675"/>
            <a:ext cx="1333500" cy="57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5-Year Total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00850" y="2988191"/>
            <a:ext cx="3280119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Framer Plan (Basic)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982075" y="300037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$120.00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544175" y="300037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$120.00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115800" y="300037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$120.00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687425" y="300037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$120.00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259050" y="300037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$120.00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830675" y="300037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$600.00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00850" y="3330843"/>
            <a:ext cx="2613384" cy="57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Storage (Up to 30 Pages)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982075" y="35147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544175" y="35147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115800" y="35147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687425" y="35147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259050" y="35147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830675" y="35147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$0.00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813182" y="3937134"/>
            <a:ext cx="2168893" cy="57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Public IP / CDN Execution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982075" y="402907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544175" y="402907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115800" y="402907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687425" y="402907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259050" y="402907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6830675" y="402907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$0.00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800850" y="4543425"/>
            <a:ext cx="1933575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Domain Name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982075" y="45434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 (Yr 1)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544175" y="45434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$15.00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115800" y="45434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$15.00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687425" y="45434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$15.00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5259050" y="45434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$15.00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6830675" y="45434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$60.00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800850" y="5057775"/>
            <a:ext cx="1933575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Installation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982075" y="505777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544175" y="505777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115800" y="505777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687425" y="505777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5259050" y="505777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FREE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6830675" y="505777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$0.00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800850" y="5562600"/>
            <a:ext cx="1933575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Maintenance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982075" y="5562600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544175" y="5562600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115800" y="5562600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3687425" y="5562600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5259050" y="5562600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6830675" y="5562600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$0.00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800850" y="5888543"/>
            <a:ext cx="1933575" cy="57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Network Traffic (10GB/mo)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982075" y="6076950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544175" y="6076950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2115800" y="6076950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3687425" y="6076950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5259050" y="6076950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6830675" y="6076950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$0.00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800850" y="6591300"/>
            <a:ext cx="1933575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Security (SSL)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982075" y="6591300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544175" y="6591300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2115800" y="6591300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3687425" y="6591300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5259050" y="6591300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Included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6830675" y="6591300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u="none" strike="noStrike" spc="85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$0.00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8982075" y="69818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$120.00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0544175" y="69818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$135.00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2115800" y="69818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$135.00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3687425" y="69818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$135.00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5259050" y="69818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$135.00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6830675" y="6981825"/>
            <a:ext cx="1333500" cy="2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4"/>
              </a:lnSpc>
              <a:spcBef>
                <a:spcPct val="0"/>
              </a:spcBef>
            </a:pPr>
            <a:r>
              <a:rPr lang="en-US" sz="1710" b="1" u="none" strike="noStrike" spc="85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$660.00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310330" y="3992689"/>
            <a:ext cx="142875" cy="142875"/>
            <a:chOff x="0" y="0"/>
            <a:chExt cx="190500" cy="19050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42645" y="0"/>
                    <a:pt x="0" y="42645"/>
                    <a:pt x="0" y="95250"/>
                  </a:cubicBezTo>
                  <a:cubicBezTo>
                    <a:pt x="0" y="147855"/>
                    <a:pt x="42645" y="190500"/>
                    <a:pt x="95250" y="190500"/>
                  </a:cubicBezTo>
                  <a:cubicBezTo>
                    <a:pt x="147855" y="190500"/>
                    <a:pt x="190500" y="147855"/>
                    <a:pt x="190500" y="95250"/>
                  </a:cubicBezTo>
                  <a:cubicBezTo>
                    <a:pt x="190500" y="42645"/>
                    <a:pt x="147855" y="0"/>
                    <a:pt x="9525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190500" cy="228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310330" y="4650105"/>
            <a:ext cx="142875" cy="142875"/>
            <a:chOff x="0" y="0"/>
            <a:chExt cx="190500" cy="19050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42645" y="0"/>
                    <a:pt x="0" y="42645"/>
                    <a:pt x="0" y="95250"/>
                  </a:cubicBezTo>
                  <a:cubicBezTo>
                    <a:pt x="0" y="147855"/>
                    <a:pt x="42645" y="190500"/>
                    <a:pt x="95250" y="190500"/>
                  </a:cubicBezTo>
                  <a:cubicBezTo>
                    <a:pt x="147855" y="190500"/>
                    <a:pt x="190500" y="147855"/>
                    <a:pt x="190500" y="95250"/>
                  </a:cubicBezTo>
                  <a:cubicBezTo>
                    <a:pt x="190500" y="42645"/>
                    <a:pt x="147855" y="0"/>
                    <a:pt x="9525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190500" cy="228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290839" y="5046345"/>
            <a:ext cx="142875" cy="142875"/>
            <a:chOff x="0" y="0"/>
            <a:chExt cx="190500" cy="1905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42645" y="0"/>
                    <a:pt x="0" y="42645"/>
                    <a:pt x="0" y="95250"/>
                  </a:cubicBezTo>
                  <a:cubicBezTo>
                    <a:pt x="0" y="147855"/>
                    <a:pt x="42645" y="190500"/>
                    <a:pt x="95250" y="190500"/>
                  </a:cubicBezTo>
                  <a:cubicBezTo>
                    <a:pt x="147855" y="190500"/>
                    <a:pt x="190500" y="147855"/>
                    <a:pt x="190500" y="95250"/>
                  </a:cubicBezTo>
                  <a:cubicBezTo>
                    <a:pt x="190500" y="42645"/>
                    <a:pt x="147855" y="0"/>
                    <a:pt x="9525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98" name="TextBox 98"/>
            <p:cNvSpPr txBox="1"/>
            <p:nvPr/>
          </p:nvSpPr>
          <p:spPr>
            <a:xfrm>
              <a:off x="0" y="-38100"/>
              <a:ext cx="190500" cy="228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310330" y="5781675"/>
            <a:ext cx="142875" cy="142875"/>
            <a:chOff x="0" y="0"/>
            <a:chExt cx="190500" cy="1905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42645" y="0"/>
                    <a:pt x="0" y="42645"/>
                    <a:pt x="0" y="95250"/>
                  </a:cubicBezTo>
                  <a:cubicBezTo>
                    <a:pt x="0" y="147855"/>
                    <a:pt x="42645" y="190500"/>
                    <a:pt x="95250" y="190500"/>
                  </a:cubicBezTo>
                  <a:cubicBezTo>
                    <a:pt x="147855" y="190500"/>
                    <a:pt x="190500" y="147855"/>
                    <a:pt x="190500" y="95250"/>
                  </a:cubicBezTo>
                  <a:cubicBezTo>
                    <a:pt x="190500" y="42645"/>
                    <a:pt x="147855" y="0"/>
                    <a:pt x="9525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101" name="TextBox 101"/>
            <p:cNvSpPr txBox="1"/>
            <p:nvPr/>
          </p:nvSpPr>
          <p:spPr>
            <a:xfrm>
              <a:off x="0" y="-38100"/>
              <a:ext cx="190500" cy="228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290839" y="6517005"/>
            <a:ext cx="142875" cy="142875"/>
            <a:chOff x="0" y="0"/>
            <a:chExt cx="190500" cy="19050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42645" y="0"/>
                    <a:pt x="0" y="42645"/>
                    <a:pt x="0" y="95250"/>
                  </a:cubicBezTo>
                  <a:cubicBezTo>
                    <a:pt x="0" y="147855"/>
                    <a:pt x="42645" y="190500"/>
                    <a:pt x="95250" y="190500"/>
                  </a:cubicBezTo>
                  <a:cubicBezTo>
                    <a:pt x="147855" y="190500"/>
                    <a:pt x="190500" y="147855"/>
                    <a:pt x="190500" y="95250"/>
                  </a:cubicBezTo>
                  <a:cubicBezTo>
                    <a:pt x="190500" y="42645"/>
                    <a:pt x="147855" y="0"/>
                    <a:pt x="9525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104" name="TextBox 104"/>
            <p:cNvSpPr txBox="1"/>
            <p:nvPr/>
          </p:nvSpPr>
          <p:spPr>
            <a:xfrm>
              <a:off x="0" y="-38100"/>
              <a:ext cx="190500" cy="228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290839" y="7252335"/>
            <a:ext cx="142875" cy="142875"/>
            <a:chOff x="0" y="0"/>
            <a:chExt cx="190500" cy="190500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42645" y="0"/>
                    <a:pt x="0" y="42645"/>
                    <a:pt x="0" y="95250"/>
                  </a:cubicBezTo>
                  <a:cubicBezTo>
                    <a:pt x="0" y="147855"/>
                    <a:pt x="42645" y="190500"/>
                    <a:pt x="95250" y="190500"/>
                  </a:cubicBezTo>
                  <a:cubicBezTo>
                    <a:pt x="147855" y="190500"/>
                    <a:pt x="190500" y="147855"/>
                    <a:pt x="190500" y="95250"/>
                  </a:cubicBezTo>
                  <a:cubicBezTo>
                    <a:pt x="190500" y="42645"/>
                    <a:pt x="147855" y="0"/>
                    <a:pt x="9525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107" name="TextBox 107"/>
            <p:cNvSpPr txBox="1"/>
            <p:nvPr/>
          </p:nvSpPr>
          <p:spPr>
            <a:xfrm>
              <a:off x="0" y="-38100"/>
              <a:ext cx="190500" cy="228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290839" y="7987666"/>
            <a:ext cx="142875" cy="142875"/>
            <a:chOff x="0" y="0"/>
            <a:chExt cx="190500" cy="19050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42645" y="0"/>
                    <a:pt x="0" y="42645"/>
                    <a:pt x="0" y="95250"/>
                  </a:cubicBezTo>
                  <a:cubicBezTo>
                    <a:pt x="0" y="147855"/>
                    <a:pt x="42645" y="190500"/>
                    <a:pt x="95250" y="190500"/>
                  </a:cubicBezTo>
                  <a:cubicBezTo>
                    <a:pt x="147855" y="190500"/>
                    <a:pt x="190500" y="147855"/>
                    <a:pt x="190500" y="95250"/>
                  </a:cubicBezTo>
                  <a:cubicBezTo>
                    <a:pt x="190500" y="42645"/>
                    <a:pt x="147855" y="0"/>
                    <a:pt x="9525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110" name="TextBox 110"/>
            <p:cNvSpPr txBox="1"/>
            <p:nvPr/>
          </p:nvSpPr>
          <p:spPr>
            <a:xfrm>
              <a:off x="0" y="-38100"/>
              <a:ext cx="190500" cy="228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1" name="Freeform 111"/>
          <p:cNvSpPr/>
          <p:nvPr/>
        </p:nvSpPr>
        <p:spPr>
          <a:xfrm flipV="1">
            <a:off x="-109050" y="7266398"/>
            <a:ext cx="2030848" cy="878803"/>
          </a:xfrm>
          <a:custGeom>
            <a:avLst/>
            <a:gdLst/>
            <a:ahLst/>
            <a:cxnLst/>
            <a:rect l="l" t="t" r="r" b="b"/>
            <a:pathLst>
              <a:path w="2030848" h="878803">
                <a:moveTo>
                  <a:pt x="0" y="878804"/>
                </a:moveTo>
                <a:lnTo>
                  <a:pt x="2030848" y="878804"/>
                </a:lnTo>
                <a:lnTo>
                  <a:pt x="2030848" y="0"/>
                </a:lnTo>
                <a:lnTo>
                  <a:pt x="0" y="0"/>
                </a:lnTo>
                <a:lnTo>
                  <a:pt x="0" y="878804"/>
                </a:lnTo>
                <a:close/>
              </a:path>
            </a:pathLst>
          </a:custGeom>
          <a:blipFill>
            <a:blip>
              <a:alphaModFix amt="5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2" name="TextBox 112"/>
          <p:cNvSpPr txBox="1"/>
          <p:nvPr/>
        </p:nvSpPr>
        <p:spPr>
          <a:xfrm>
            <a:off x="859339" y="2917995"/>
            <a:ext cx="3563040" cy="412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3300">
                <a:solidFill>
                  <a:srgbClr val="F2F3F4"/>
                </a:solidFill>
                <a:latin typeface="Pattanakarn Light"/>
                <a:ea typeface="Pattanakarn Light"/>
                <a:cs typeface="Pattanakarn Light"/>
                <a:sym typeface="Pattanakarn Light"/>
              </a:rPr>
              <a:t>ramer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490864" y="7901941"/>
            <a:ext cx="5543779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 spc="17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Security (SSL): Free (automated, native provisioning)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490864" y="7166610"/>
            <a:ext cx="4953000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 spc="17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Installation/Maintenance: Free (fully managed platform, no setup required)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90864" y="6431280"/>
            <a:ext cx="4953000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 spc="17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Bandwidth: Included (10GB/month, Basic tier limit)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510355" y="5695950"/>
            <a:ext cx="4486593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 spc="17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Domain: Free (Year 1 only, via Hover) — ~$15.00/year from Year 2 onward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90864" y="4960620"/>
            <a:ext cx="4953000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 spc="17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Public IP / CDN: Included (Framer's global CDN, no separate charge)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529846" y="4539615"/>
            <a:ext cx="495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 spc="17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Storage: Included (up to 30 pages)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10355" y="3804284"/>
            <a:ext cx="4953000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 spc="17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Plan: $120.00/year (Basic, billed annually, 2 vCPU-equivalent not applicable — SaaS)</a:t>
            </a:r>
          </a:p>
        </p:txBody>
      </p:sp>
      <p:sp>
        <p:nvSpPr>
          <p:cNvPr id="120" name="Freeform 120"/>
          <p:cNvSpPr/>
          <p:nvPr/>
        </p:nvSpPr>
        <p:spPr>
          <a:xfrm>
            <a:off x="3594540" y="9092732"/>
            <a:ext cx="1655678" cy="165568"/>
          </a:xfrm>
          <a:custGeom>
            <a:avLst/>
            <a:gdLst/>
            <a:ahLst/>
            <a:cxnLst/>
            <a:rect l="l" t="t" r="r" b="b"/>
            <a:pathLst>
              <a:path w="1655678" h="165568">
                <a:moveTo>
                  <a:pt x="0" y="0"/>
                </a:moveTo>
                <a:lnTo>
                  <a:pt x="1655678" y="0"/>
                </a:lnTo>
                <a:lnTo>
                  <a:pt x="1655678" y="165568"/>
                </a:lnTo>
                <a:lnTo>
                  <a:pt x="0" y="165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1" name="Group 121"/>
          <p:cNvGrpSpPr/>
          <p:nvPr/>
        </p:nvGrpSpPr>
        <p:grpSpPr>
          <a:xfrm>
            <a:off x="1028700" y="9107150"/>
            <a:ext cx="136733" cy="136733"/>
            <a:chOff x="0" y="0"/>
            <a:chExt cx="812800" cy="81280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123" name="TextBox 123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8"/>
                </a:lnSpc>
              </a:pPr>
              <a:endParaRPr/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420382" y="9107150"/>
            <a:ext cx="136733" cy="136733"/>
            <a:chOff x="0" y="0"/>
            <a:chExt cx="812800" cy="812800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126" name="TextBox 126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8"/>
                </a:lnSpc>
              </a:pPr>
              <a:endParaRPr/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224541" y="9107150"/>
            <a:ext cx="136733" cy="136733"/>
            <a:chOff x="0" y="0"/>
            <a:chExt cx="812800" cy="812800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129" name="TextBox 129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8"/>
                </a:lnSpc>
              </a:pPr>
              <a:endParaRPr/>
            </a:p>
          </p:txBody>
        </p:sp>
      </p:grpSp>
      <p:sp>
        <p:nvSpPr>
          <p:cNvPr id="130" name="Freeform 130"/>
          <p:cNvSpPr/>
          <p:nvPr/>
        </p:nvSpPr>
        <p:spPr>
          <a:xfrm>
            <a:off x="14355042" y="7990774"/>
            <a:ext cx="1897142" cy="1610661"/>
          </a:xfrm>
          <a:custGeom>
            <a:avLst/>
            <a:gdLst/>
            <a:ahLst/>
            <a:cxnLst/>
            <a:rect l="l" t="t" r="r" b="b"/>
            <a:pathLst>
              <a:path w="1897142" h="1610661">
                <a:moveTo>
                  <a:pt x="0" y="0"/>
                </a:moveTo>
                <a:lnTo>
                  <a:pt x="1897142" y="0"/>
                </a:lnTo>
                <a:lnTo>
                  <a:pt x="1897142" y="1610661"/>
                </a:lnTo>
                <a:lnTo>
                  <a:pt x="0" y="1610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6241" y="505108"/>
            <a:ext cx="16573059" cy="649536"/>
            <a:chOff x="0" y="0"/>
            <a:chExt cx="22097412" cy="866048"/>
          </a:xfrm>
        </p:grpSpPr>
        <p:sp>
          <p:nvSpPr>
            <p:cNvPr id="3" name="TextBox 3"/>
            <p:cNvSpPr txBox="1"/>
            <p:nvPr/>
          </p:nvSpPr>
          <p:spPr>
            <a:xfrm>
              <a:off x="12796836" y="287309"/>
              <a:ext cx="9300576" cy="578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036"/>
                </a:lnSpc>
              </a:pPr>
              <a:r>
                <a:rPr lang="en-US" sz="3300">
                  <a:solidFill>
                    <a:srgbClr val="F2F3F4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0</a:t>
              </a:r>
              <a:r>
                <a:rPr lang="en-US" sz="3300">
                  <a:solidFill>
                    <a:srgbClr val="36D8C3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5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741652" cy="866048"/>
            </a:xfrm>
            <a:custGeom>
              <a:avLst/>
              <a:gdLst/>
              <a:ahLst/>
              <a:cxnLst/>
              <a:rect l="l" t="t" r="r" b="b"/>
              <a:pathLst>
                <a:path w="741652" h="866048">
                  <a:moveTo>
                    <a:pt x="0" y="0"/>
                  </a:moveTo>
                  <a:lnTo>
                    <a:pt x="741652" y="0"/>
                  </a:lnTo>
                  <a:lnTo>
                    <a:pt x="741652" y="866048"/>
                  </a:lnTo>
                  <a:lnTo>
                    <a:pt x="0" y="866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988783" y="275902"/>
              <a:ext cx="4750721" cy="578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6"/>
                </a:lnSpc>
              </a:pPr>
              <a:r>
                <a:rPr lang="en-US" sz="3300">
                  <a:solidFill>
                    <a:srgbClr val="F2F3F4"/>
                  </a:solidFill>
                  <a:latin typeface="Pattanakarn Light"/>
                  <a:ea typeface="Pattanakarn Light"/>
                  <a:cs typeface="Pattanakarn Light"/>
                  <a:sym typeface="Pattanakarn Light"/>
                </a:rPr>
                <a:t>BreachPoint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685800" y="2571750"/>
            <a:ext cx="16916400" cy="0"/>
          </a:xfrm>
          <a:prstGeom prst="line">
            <a:avLst/>
          </a:prstGeom>
          <a:ln w="19050" cap="flat">
            <a:solidFill>
              <a:srgbClr val="36D8C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591800" y="7730490"/>
            <a:ext cx="689610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1200" u="none" strike="noStrike" spc="6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Locked-In: Proprietary editor/format — migrating away typically means rebuilding from scratch.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67100" y="7730490"/>
            <a:ext cx="689610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1200" u="none" strike="noStrike" spc="6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Portable: Standard Linux VM — infrastructure and code can migrate to any other provider with minimal rework.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0100" y="7861300"/>
            <a:ext cx="2438400" cy="22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399" b="1" u="none" strike="noStrike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Vendor Lock-In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91800" y="6701790"/>
            <a:ext cx="689610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1200" u="none" strike="noStrike" spc="6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Not Fit for Purpose: A static site builder cannot run backend logic — it could only host descriptive marketing content.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67100" y="6701790"/>
            <a:ext cx="689610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1200" u="none" strike="noStrike" spc="6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Purpose-Built: Can run backend services and execute the tool's core scanning/processing function natively.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0100" y="6832600"/>
            <a:ext cx="2438400" cy="22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399" b="1" u="none" strike="noStrike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Functional Fit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91800" y="5673090"/>
            <a:ext cx="689610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1200" u="none" strike="noStrike" spc="6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Capped: Entry-tier plans are limited by page count and bandwidth — a hard ceiling as usage increases.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67100" y="5687377"/>
            <a:ext cx="6896100" cy="22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1200" u="none" strike="noStrike" spc="6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Highly Scalable: Compute can be resized as workload and traffic grow.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0100" y="5803900"/>
            <a:ext cx="2438400" cy="22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399" b="1" u="none" strike="noStrike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Scalability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91800" y="4658677"/>
            <a:ext cx="6896100" cy="22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1200" u="none" strike="noStrike" spc="6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Low Complexity: No-code, live within minutes — accessible to non-technical staff.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67100" y="4644390"/>
            <a:ext cx="689610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1200" u="none" strike="noStrike" spc="6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High Setup: Requires networking and server administration expertise to provision, secure, and maintain.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0100" y="4775200"/>
            <a:ext cx="2438400" cy="22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399" b="1" u="none" strike="noStrike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Complexity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91800" y="3615690"/>
            <a:ext cx="689610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1200" u="none" strike="noStrike" spc="6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Provider-Managed: Framer handles hosting, SSL, and updates automatically — lower operational burden, but zero visibility into configuration.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67100" y="3615690"/>
            <a:ext cx="689610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1200" u="none" strike="noStrike" spc="6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User-Managed: The team patches the OS, renews SSL, and monitors the server directly — full ownership, but real ongoing accountability.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0100" y="3843020"/>
            <a:ext cx="2438400" cy="22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399" b="1" u="none" strike="noStrike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Responsibility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91800" y="2586990"/>
            <a:ext cx="689610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1200" u="none" strike="noStrike" spc="6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Limited Customization: Drag-and-drop components and templates only — no ability to run custom backend logic.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67100" y="2586990"/>
            <a:ext cx="689610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1200" u="none" strike="noStrike" spc="6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Full Control: Root/OS access to configure firewall rules, custom scanning logic, and reporting pipelines exactly as needed.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0100" y="2717800"/>
            <a:ext cx="2438400" cy="22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399" b="1" u="none" strike="noStrike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Flexibility &amp; Control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91800" y="2190750"/>
            <a:ext cx="6934200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b="1" u="none" strike="noStrike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SaaS (Framer)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467100" y="2190750"/>
            <a:ext cx="6934200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b="1" u="none" strike="noStrike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IaaS (Azure)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0100" y="2190750"/>
            <a:ext cx="2476500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b="1" u="none" strike="noStrike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Non-Monetary Factor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00100" y="1479339"/>
            <a:ext cx="12298773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60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UPPER HAND WITHOUT PAYING</a:t>
            </a:r>
          </a:p>
        </p:txBody>
      </p:sp>
      <p:sp>
        <p:nvSpPr>
          <p:cNvPr id="29" name="Freeform 29"/>
          <p:cNvSpPr/>
          <p:nvPr/>
        </p:nvSpPr>
        <p:spPr>
          <a:xfrm flipV="1">
            <a:off x="-109050" y="7266398"/>
            <a:ext cx="2030848" cy="878803"/>
          </a:xfrm>
          <a:custGeom>
            <a:avLst/>
            <a:gdLst/>
            <a:ahLst/>
            <a:cxnLst/>
            <a:rect l="l" t="t" r="r" b="b"/>
            <a:pathLst>
              <a:path w="2030848" h="878803">
                <a:moveTo>
                  <a:pt x="0" y="878804"/>
                </a:moveTo>
                <a:lnTo>
                  <a:pt x="2030848" y="878804"/>
                </a:lnTo>
                <a:lnTo>
                  <a:pt x="2030848" y="0"/>
                </a:lnTo>
                <a:lnTo>
                  <a:pt x="0" y="0"/>
                </a:lnTo>
                <a:lnTo>
                  <a:pt x="0" y="878804"/>
                </a:lnTo>
                <a:close/>
              </a:path>
            </a:pathLst>
          </a:custGeom>
          <a:blipFill>
            <a:blip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3594540" y="9092732"/>
            <a:ext cx="1655678" cy="165568"/>
          </a:xfrm>
          <a:custGeom>
            <a:avLst/>
            <a:gdLst/>
            <a:ahLst/>
            <a:cxnLst/>
            <a:rect l="l" t="t" r="r" b="b"/>
            <a:pathLst>
              <a:path w="1655678" h="165568">
                <a:moveTo>
                  <a:pt x="0" y="0"/>
                </a:moveTo>
                <a:lnTo>
                  <a:pt x="1655678" y="0"/>
                </a:lnTo>
                <a:lnTo>
                  <a:pt x="1655678" y="165568"/>
                </a:lnTo>
                <a:lnTo>
                  <a:pt x="0" y="165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1028700" y="9107150"/>
            <a:ext cx="136733" cy="136733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8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20382" y="9107150"/>
            <a:ext cx="136733" cy="136733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8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24541" y="9107150"/>
            <a:ext cx="136733" cy="136733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88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 flipH="1">
            <a:off x="16449556" y="8442624"/>
            <a:ext cx="809744" cy="815676"/>
          </a:xfrm>
          <a:custGeom>
            <a:avLst/>
            <a:gdLst/>
            <a:ahLst/>
            <a:cxnLst/>
            <a:rect l="l" t="t" r="r" b="b"/>
            <a:pathLst>
              <a:path w="809744" h="815676">
                <a:moveTo>
                  <a:pt x="809744" y="0"/>
                </a:moveTo>
                <a:lnTo>
                  <a:pt x="0" y="0"/>
                </a:lnTo>
                <a:lnTo>
                  <a:pt x="0" y="815676"/>
                </a:lnTo>
                <a:lnTo>
                  <a:pt x="809744" y="815676"/>
                </a:lnTo>
                <a:lnTo>
                  <a:pt x="8097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7524750"/>
            <a:ext cx="16573500" cy="685800"/>
            <a:chOff x="0" y="0"/>
            <a:chExt cx="22098000" cy="91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98000" cy="914400"/>
            </a:xfrm>
            <a:custGeom>
              <a:avLst/>
              <a:gdLst/>
              <a:ahLst/>
              <a:cxnLst/>
              <a:rect l="l" t="t" r="r" b="b"/>
              <a:pathLst>
                <a:path w="22098000" h="914400">
                  <a:moveTo>
                    <a:pt x="91440" y="0"/>
                  </a:moveTo>
                  <a:lnTo>
                    <a:pt x="22006561" y="0"/>
                  </a:lnTo>
                  <a:cubicBezTo>
                    <a:pt x="22057061" y="0"/>
                    <a:pt x="22098000" y="40939"/>
                    <a:pt x="22098000" y="91440"/>
                  </a:cubicBezTo>
                  <a:lnTo>
                    <a:pt x="22098000" y="822960"/>
                  </a:lnTo>
                  <a:cubicBezTo>
                    <a:pt x="22098000" y="873461"/>
                    <a:pt x="22057061" y="914400"/>
                    <a:pt x="22006561" y="914400"/>
                  </a:cubicBezTo>
                  <a:lnTo>
                    <a:pt x="91440" y="914400"/>
                  </a:lnTo>
                  <a:cubicBezTo>
                    <a:pt x="40939" y="914400"/>
                    <a:pt x="0" y="873461"/>
                    <a:pt x="0" y="8229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0A1A25"/>
            </a:solidFill>
            <a:ln w="19050" cap="sq">
              <a:solidFill>
                <a:srgbClr val="36D8C3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098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20550" y="3286125"/>
            <a:ext cx="5391150" cy="3238500"/>
            <a:chOff x="0" y="0"/>
            <a:chExt cx="7188200" cy="4318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88200" cy="4318000"/>
            </a:xfrm>
            <a:custGeom>
              <a:avLst/>
              <a:gdLst/>
              <a:ahLst/>
              <a:cxnLst/>
              <a:rect l="l" t="t" r="r" b="b"/>
              <a:pathLst>
                <a:path w="7188200" h="4318000">
                  <a:moveTo>
                    <a:pt x="431800" y="0"/>
                  </a:moveTo>
                  <a:lnTo>
                    <a:pt x="6756400" y="0"/>
                  </a:lnTo>
                  <a:cubicBezTo>
                    <a:pt x="6994877" y="0"/>
                    <a:pt x="7188200" y="193323"/>
                    <a:pt x="7188200" y="431800"/>
                  </a:cubicBezTo>
                  <a:lnTo>
                    <a:pt x="7188200" y="3886200"/>
                  </a:lnTo>
                  <a:cubicBezTo>
                    <a:pt x="7188200" y="4124677"/>
                    <a:pt x="6994877" y="4318000"/>
                    <a:pt x="67564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0D15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188200" cy="435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38900" y="3286125"/>
            <a:ext cx="5391150" cy="3238500"/>
            <a:chOff x="0" y="0"/>
            <a:chExt cx="7188200" cy="4318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88200" cy="4318000"/>
            </a:xfrm>
            <a:custGeom>
              <a:avLst/>
              <a:gdLst/>
              <a:ahLst/>
              <a:cxnLst/>
              <a:rect l="l" t="t" r="r" b="b"/>
              <a:pathLst>
                <a:path w="7188200" h="4318000">
                  <a:moveTo>
                    <a:pt x="431800" y="0"/>
                  </a:moveTo>
                  <a:lnTo>
                    <a:pt x="6756400" y="0"/>
                  </a:lnTo>
                  <a:cubicBezTo>
                    <a:pt x="6994877" y="0"/>
                    <a:pt x="7188200" y="193323"/>
                    <a:pt x="7188200" y="431800"/>
                  </a:cubicBezTo>
                  <a:lnTo>
                    <a:pt x="7188200" y="3886200"/>
                  </a:lnTo>
                  <a:cubicBezTo>
                    <a:pt x="7188200" y="4124677"/>
                    <a:pt x="6994877" y="4318000"/>
                    <a:pt x="67564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0D152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188200" cy="435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57250" y="3286125"/>
            <a:ext cx="5391150" cy="3238500"/>
            <a:chOff x="0" y="0"/>
            <a:chExt cx="7188200" cy="4318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188200" cy="4318000"/>
            </a:xfrm>
            <a:custGeom>
              <a:avLst/>
              <a:gdLst/>
              <a:ahLst/>
              <a:cxnLst/>
              <a:rect l="l" t="t" r="r" b="b"/>
              <a:pathLst>
                <a:path w="7188200" h="4318000">
                  <a:moveTo>
                    <a:pt x="431800" y="0"/>
                  </a:moveTo>
                  <a:lnTo>
                    <a:pt x="6756400" y="0"/>
                  </a:lnTo>
                  <a:cubicBezTo>
                    <a:pt x="6994877" y="0"/>
                    <a:pt x="7188200" y="193323"/>
                    <a:pt x="7188200" y="431800"/>
                  </a:cubicBezTo>
                  <a:lnTo>
                    <a:pt x="7188200" y="3886200"/>
                  </a:lnTo>
                  <a:cubicBezTo>
                    <a:pt x="7188200" y="4124677"/>
                    <a:pt x="6994877" y="4318000"/>
                    <a:pt x="67564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0D15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188200" cy="435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57250" y="2047875"/>
            <a:ext cx="5334000" cy="952500"/>
            <a:chOff x="0" y="0"/>
            <a:chExt cx="7112000" cy="127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112000" cy="1270000"/>
            </a:xfrm>
            <a:custGeom>
              <a:avLst/>
              <a:gdLst/>
              <a:ahLst/>
              <a:cxnLst/>
              <a:rect l="l" t="t" r="r" b="b"/>
              <a:pathLst>
                <a:path w="7112000" h="1270000">
                  <a:moveTo>
                    <a:pt x="127000" y="0"/>
                  </a:moveTo>
                  <a:lnTo>
                    <a:pt x="6985000" y="0"/>
                  </a:lnTo>
                  <a:cubicBezTo>
                    <a:pt x="7055140" y="0"/>
                    <a:pt x="7112000" y="56860"/>
                    <a:pt x="7112000" y="127000"/>
                  </a:cubicBezTo>
                  <a:lnTo>
                    <a:pt x="7112000" y="1143000"/>
                  </a:lnTo>
                  <a:cubicBezTo>
                    <a:pt x="7112000" y="1213140"/>
                    <a:pt x="7055140" y="1270000"/>
                    <a:pt x="6985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D1520"/>
            </a:solidFill>
            <a:ln w="9525" cap="sq">
              <a:solidFill>
                <a:srgbClr val="36D8C3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7112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430000" y="762000"/>
            <a:ext cx="6477000" cy="8763000"/>
            <a:chOff x="0" y="0"/>
            <a:chExt cx="8636000" cy="11684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36000" cy="11684000"/>
            </a:xfrm>
            <a:custGeom>
              <a:avLst/>
              <a:gdLst/>
              <a:ahLst/>
              <a:cxnLst/>
              <a:rect l="l" t="t" r="r" b="b"/>
              <a:pathLst>
                <a:path w="8636000" h="11684000">
                  <a:moveTo>
                    <a:pt x="863600" y="0"/>
                  </a:moveTo>
                  <a:lnTo>
                    <a:pt x="7772400" y="0"/>
                  </a:lnTo>
                  <a:cubicBezTo>
                    <a:pt x="8249353" y="0"/>
                    <a:pt x="8636000" y="386647"/>
                    <a:pt x="8636000" y="863600"/>
                  </a:cubicBezTo>
                  <a:lnTo>
                    <a:pt x="8636000" y="10820400"/>
                  </a:lnTo>
                  <a:cubicBezTo>
                    <a:pt x="8636000" y="11297353"/>
                    <a:pt x="8249353" y="11684000"/>
                    <a:pt x="7772400" y="11684000"/>
                  </a:cubicBezTo>
                  <a:lnTo>
                    <a:pt x="863600" y="11684000"/>
                  </a:lnTo>
                  <a:cubicBezTo>
                    <a:pt x="386647" y="11684000"/>
                    <a:pt x="0" y="11297353"/>
                    <a:pt x="0" y="10820400"/>
                  </a:cubicBezTo>
                  <a:lnTo>
                    <a:pt x="0" y="863600"/>
                  </a:lnTo>
                  <a:cubicBezTo>
                    <a:pt x="0" y="386647"/>
                    <a:pt x="386647" y="0"/>
                    <a:pt x="863600" y="0"/>
                  </a:cubicBezTo>
                  <a:close/>
                </a:path>
              </a:pathLst>
            </a:custGeom>
            <a:solidFill>
              <a:srgbClr val="0A1A25">
                <a:alpha val="4000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636000" cy="1172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161705" y="-78105"/>
            <a:ext cx="18288000" cy="10287000"/>
            <a:chOff x="0" y="0"/>
            <a:chExt cx="24384000" cy="13716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20B1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57250" y="6762750"/>
            <a:ext cx="28575" cy="381000"/>
            <a:chOff x="0" y="0"/>
            <a:chExt cx="38100" cy="508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8100" cy="508000"/>
            </a:xfrm>
            <a:custGeom>
              <a:avLst/>
              <a:gdLst/>
              <a:ahLst/>
              <a:cxnLst/>
              <a:rect l="l" t="t" r="r" b="b"/>
              <a:pathLst>
                <a:path w="38100" h="508000">
                  <a:moveTo>
                    <a:pt x="0" y="0"/>
                  </a:moveTo>
                  <a:lnTo>
                    <a:pt x="38100" y="0"/>
                  </a:lnTo>
                  <a:lnTo>
                    <a:pt x="381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36D8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81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6316325" y="752475"/>
            <a:ext cx="952500" cy="40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70"/>
              </a:lnSpc>
              <a:spcBef>
                <a:spcPct val="0"/>
              </a:spcBef>
            </a:pPr>
            <a:r>
              <a:rPr lang="en-US" sz="3300" u="none" strike="noStrike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0</a:t>
            </a:r>
            <a:r>
              <a:rPr lang="en-US" sz="3300" u="none" strike="noStrike">
                <a:solidFill>
                  <a:srgbClr val="36D8C3"/>
                </a:solidFill>
                <a:latin typeface="Pattanakarn"/>
                <a:ea typeface="Pattanakarn"/>
                <a:cs typeface="Pattanakarn"/>
                <a:sym typeface="Pattanakarn"/>
              </a:rPr>
              <a:t>6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95766" y="504894"/>
            <a:ext cx="16573059" cy="649536"/>
            <a:chOff x="0" y="0"/>
            <a:chExt cx="22097412" cy="866048"/>
          </a:xfrm>
        </p:grpSpPr>
        <p:sp>
          <p:nvSpPr>
            <p:cNvPr id="28" name="TextBox 28"/>
            <p:cNvSpPr txBox="1"/>
            <p:nvPr/>
          </p:nvSpPr>
          <p:spPr>
            <a:xfrm>
              <a:off x="12796836" y="287309"/>
              <a:ext cx="9300576" cy="578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036"/>
                </a:lnSpc>
              </a:pPr>
              <a:r>
                <a:rPr lang="en-US" sz="3300">
                  <a:solidFill>
                    <a:srgbClr val="F2F3F4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0</a:t>
              </a:r>
              <a:r>
                <a:rPr lang="en-US" sz="3300">
                  <a:solidFill>
                    <a:srgbClr val="36D8C3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5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741652" cy="866048"/>
            </a:xfrm>
            <a:custGeom>
              <a:avLst/>
              <a:gdLst/>
              <a:ahLst/>
              <a:cxnLst/>
              <a:rect l="l" t="t" r="r" b="b"/>
              <a:pathLst>
                <a:path w="741652" h="866048">
                  <a:moveTo>
                    <a:pt x="0" y="0"/>
                  </a:moveTo>
                  <a:lnTo>
                    <a:pt x="741652" y="0"/>
                  </a:lnTo>
                  <a:lnTo>
                    <a:pt x="741652" y="866048"/>
                  </a:lnTo>
                  <a:lnTo>
                    <a:pt x="0" y="866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988783" y="275902"/>
              <a:ext cx="4750721" cy="578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6"/>
                </a:lnSpc>
              </a:pPr>
              <a:r>
                <a:rPr lang="en-US" sz="3300">
                  <a:solidFill>
                    <a:srgbClr val="F2F3F4"/>
                  </a:solidFill>
                  <a:latin typeface="Pattanakarn Light"/>
                  <a:ea typeface="Pattanakarn Light"/>
                  <a:cs typeface="Pattanakarn Light"/>
                  <a:sym typeface="Pattanakarn Light"/>
                </a:rPr>
                <a:t>BreachPoint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85850" y="1530350"/>
            <a:ext cx="952500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  <a:spcBef>
                <a:spcPct val="0"/>
              </a:spcBef>
            </a:pPr>
            <a:r>
              <a:rPr lang="en-US" sz="4200" u="none" strike="noStrike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Conclusion: Azure vs. Framer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3000" y="8300932"/>
            <a:ext cx="1047750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 spc="15">
                <a:solidFill>
                  <a:srgbClr val="8A9BAE"/>
                </a:solidFill>
                <a:latin typeface="Pattanakarn"/>
                <a:ea typeface="Pattanakarn"/>
                <a:cs typeface="Pattanakarn"/>
                <a:sym typeface="Pattanakarn"/>
              </a:rPr>
              <a:t>Both platforms can host BreachPoint's web presence the real question is which one can support the project as it grows.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3000" y="2336165"/>
            <a:ext cx="4762500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39"/>
              </a:lnSpc>
              <a:spcBef>
                <a:spcPct val="0"/>
              </a:spcBef>
            </a:pPr>
            <a:r>
              <a:rPr lang="en-US" sz="3399" b="1" u="none" strike="noStrike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$660 vs. $774.60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3000" y="2783840"/>
            <a:ext cx="4762500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8A9BAE"/>
                </a:solidFill>
                <a:latin typeface="Pattanakarn"/>
                <a:ea typeface="Pattanakarn"/>
                <a:cs typeface="Pattanakarn"/>
                <a:sym typeface="Pattanakarn"/>
              </a:rPr>
              <a:t>Framer is</a:t>
            </a:r>
            <a:r>
              <a:rPr lang="en-US" sz="1299" b="1" u="none" strike="noStrike">
                <a:solidFill>
                  <a:srgbClr val="8A9BAE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 </a:t>
            </a:r>
            <a:r>
              <a:rPr lang="en-US" sz="1299" b="1" u="none" strike="noStrike">
                <a:solidFill>
                  <a:srgbClr val="F2F3F4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slightly cheaper</a:t>
            </a:r>
            <a:r>
              <a:rPr lang="en-US" sz="1299" b="1" u="none" strike="noStrike">
                <a:solidFill>
                  <a:srgbClr val="8A9BAE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 </a:t>
            </a:r>
            <a:r>
              <a:rPr lang="en-US" sz="1299" u="none" strike="noStrike">
                <a:solidFill>
                  <a:srgbClr val="8A9BAE"/>
                </a:solidFill>
                <a:latin typeface="Pattanakarn"/>
                <a:ea typeface="Pattanakarn"/>
                <a:cs typeface="Pattanakarn"/>
                <a:sym typeface="Pattanakarn"/>
              </a:rPr>
              <a:t>over five years, but only by about $115.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5850" y="3457575"/>
            <a:ext cx="4933950" cy="22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20"/>
              </a:lnSpc>
              <a:spcBef>
                <a:spcPct val="0"/>
              </a:spcBef>
            </a:pPr>
            <a:r>
              <a:rPr lang="en-US" sz="1400" b="1" u="none" strike="noStrike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Cost is close, not decisive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85850" y="3811905"/>
            <a:ext cx="4762500" cy="2278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200" u="none" strike="noStrike" spc="12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• Both platforms are capable of hosting BreachPoint's web presence.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200" u="none" strike="noStrike" spc="12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• The cost comparison is close enough that either option could be defended on price alone.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200" u="none" strike="noStrike" spc="12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• For a simple, low-maintenance site, that gap might be enough to choose Framer.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200" u="none" strike="noStrike" spc="12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• This is not a case where one option is clearly disqualified — it is a genuine tradeoff between two reasonable approaches.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200" u="none" strike="noStrike" spc="12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• The right answer depends on what the project actually needs going forward.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67500" y="3457575"/>
            <a:ext cx="4933950" cy="22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20"/>
              </a:lnSpc>
              <a:spcBef>
                <a:spcPct val="0"/>
              </a:spcBef>
            </a:pPr>
            <a:r>
              <a:rPr lang="en-US" sz="1400" b="1" u="none" strike="noStrike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Why Azure gains momentum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67500" y="3811905"/>
            <a:ext cx="4762500" cy="2735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200" u="none" strike="noStrike" spc="12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• Framer's strengths — fast setup, no technical process, predictable managed pricing — are real advantages for a project that stays simple and static.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200" u="none" strike="noStrike" spc="12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• BreachPoint is not intended to stay static.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200" u="none" strike="noStrike" spc="12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• It is a security tool built to scan, process data, and generate reports.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200" u="none" strike="noStrike" spc="12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• Its infrastructure needs to grow alongside that workload.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200" u="none" strike="noStrike" spc="12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• It must handle more targets, more traffic, and more processing over time.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200" u="none" strike="noStrike" spc="12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• Azure's control over compute, storage, and configuration gives it room to scale in ways a template-based platform with fixed page and bandwidth limits is not designed for.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249150" y="3457575"/>
            <a:ext cx="4933950" cy="22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20"/>
              </a:lnSpc>
              <a:spcBef>
                <a:spcPct val="0"/>
              </a:spcBef>
            </a:pPr>
            <a:r>
              <a:rPr lang="en-US" sz="1400" b="1" u="none" strike="noStrike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Ownership and portability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249150" y="3697605"/>
            <a:ext cx="4338808" cy="2049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200" u="none" strike="noStrike" spc="12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• With Azure, the infrastructure, data, and configuration remain fully under direct control.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200" u="none" strike="noStrike" spc="12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• Nothing is tied to a single vendor's proprietary format.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200" u="none" strike="noStrike" spc="12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• The setup can move to another provider with minimal friction if needed later.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200" u="none" strike="noStrike" spc="12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• Framer's convenience comes with a tradeoff: the site lives inside its own ecosystem.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200" u="none" strike="noStrike" spc="12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• Any future migration means rebuilding rather than exporting.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61997" y="6824779"/>
            <a:ext cx="13335000" cy="2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400" i="1" u="none" strike="noStrike">
                <a:solidFill>
                  <a:srgbClr val="8A9BAE"/>
                </a:solidFill>
                <a:latin typeface="Pattanakarn Italics"/>
                <a:ea typeface="Pattanakarn Italics"/>
                <a:cs typeface="Pattanakarn Italics"/>
                <a:sym typeface="Pattanakarn Italics"/>
              </a:rPr>
              <a:t>Framer is strong for simple static sites. Azure is stronger for a project that must grow, stay portable, and remain under direct control.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3000" y="7648575"/>
            <a:ext cx="57150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36D8C3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Recommendation: Azure IaaS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43000" y="8043757"/>
            <a:ext cx="1428750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 spc="19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The modest cost premium is a reasonable trade for the control and scalability the project will need as it grows.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111458" y="6827520"/>
            <a:ext cx="495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References</a:t>
            </a:r>
          </a:p>
        </p:txBody>
      </p:sp>
      <p:sp>
        <p:nvSpPr>
          <p:cNvPr id="45" name="Freeform 45"/>
          <p:cNvSpPr/>
          <p:nvPr/>
        </p:nvSpPr>
        <p:spPr>
          <a:xfrm flipH="1">
            <a:off x="14111458" y="7330805"/>
            <a:ext cx="240225" cy="241985"/>
          </a:xfrm>
          <a:custGeom>
            <a:avLst/>
            <a:gdLst/>
            <a:ahLst/>
            <a:cxnLst/>
            <a:rect l="l" t="t" r="r" b="b"/>
            <a:pathLst>
              <a:path w="240225" h="241985">
                <a:moveTo>
                  <a:pt x="240225" y="0"/>
                </a:moveTo>
                <a:lnTo>
                  <a:pt x="0" y="0"/>
                </a:lnTo>
                <a:lnTo>
                  <a:pt x="0" y="241985"/>
                </a:lnTo>
                <a:lnTo>
                  <a:pt x="240225" y="241985"/>
                </a:lnTo>
                <a:lnTo>
                  <a:pt x="24022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 flipH="1">
            <a:off x="14111458" y="7744240"/>
            <a:ext cx="240225" cy="241985"/>
          </a:xfrm>
          <a:custGeom>
            <a:avLst/>
            <a:gdLst/>
            <a:ahLst/>
            <a:cxnLst/>
            <a:rect l="l" t="t" r="r" b="b"/>
            <a:pathLst>
              <a:path w="240225" h="241985">
                <a:moveTo>
                  <a:pt x="240225" y="0"/>
                </a:moveTo>
                <a:lnTo>
                  <a:pt x="0" y="0"/>
                </a:lnTo>
                <a:lnTo>
                  <a:pt x="0" y="241985"/>
                </a:lnTo>
                <a:lnTo>
                  <a:pt x="240225" y="241985"/>
                </a:lnTo>
                <a:lnTo>
                  <a:pt x="24022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14472064" y="7393564"/>
            <a:ext cx="890687" cy="18735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5"/>
              </a:lnSpc>
            </a:pPr>
            <a:r>
              <a:rPr lang="en-US" sz="1146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4" tooltip="https://www.bing.com/ck/a?!&amp;&amp;p=bfd69f5922df0bc6e185ba18bd6ddf9888dc884d9db2244616cbe29da6becbc8JmltdHM9MTc4MzAzNjgwMA&amp;ptn=3&amp;ver=2&amp;hsh=4&amp;fclid=06639611-ed31-6121-1fda-8167ec4660a9&amp;psq=azure+pricing&amp;u=a1aHR0cHM6Ly9henVyZS5taWNyb3NvZnQuY29tL2VuLXVzL3ByaWNpbmcvP21zb2NraWQ9MDY2Mzk2MTFlZDMxNjEyMTFmZGE4MTY3ZWM0NjYwYT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 Pricing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472064" y="7741725"/>
            <a:ext cx="957421" cy="187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149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5" tooltip="https://www.bing.com/ck/a?!&amp;&amp;p=5e1cf772de7d4fec989f4440b7514da5a2a7ec59bee88d31dcc78804117d330eJmltdHM9MTc4MzAzNjgwMA&amp;ptn=3&amp;ver=2&amp;hsh=4&amp;fclid=06639611-ed31-6121-1fda-8167ec4660a9&amp;psq=framer+pricing&amp;u=a1aHR0cHM6Ly93d3cuZnJhbWVyLmNvbS9wcmljaW5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Framer Pricing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563725" y="9334712"/>
            <a:ext cx="2695575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3600">
                <a:solidFill>
                  <a:srgbClr val="F2F3F4"/>
                </a:solidFill>
                <a:latin typeface="Pattanakarn"/>
                <a:ea typeface="Pattanakarn"/>
                <a:cs typeface="Pattanakarn"/>
                <a:sym typeface="Pattanakarn"/>
              </a:rPr>
              <a:t>Thank You!</a:t>
            </a:r>
          </a:p>
        </p:txBody>
      </p:sp>
      <p:sp>
        <p:nvSpPr>
          <p:cNvPr id="50" name="Freeform 50"/>
          <p:cNvSpPr/>
          <p:nvPr/>
        </p:nvSpPr>
        <p:spPr>
          <a:xfrm>
            <a:off x="13141000" y="-2717993"/>
            <a:ext cx="8020119" cy="8229600"/>
          </a:xfrm>
          <a:custGeom>
            <a:avLst/>
            <a:gdLst/>
            <a:ahLst/>
            <a:cxnLst/>
            <a:rect l="l" t="t" r="r" b="b"/>
            <a:pathLst>
              <a:path w="8020119" h="8229600">
                <a:moveTo>
                  <a:pt x="0" y="0"/>
                </a:moveTo>
                <a:lnTo>
                  <a:pt x="8020120" y="0"/>
                </a:lnTo>
                <a:lnTo>
                  <a:pt x="8020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Black Modern Cybersecurity Presentation</dc:title>
  <cp:revision>32</cp:revision>
  <dcterms:created xsi:type="dcterms:W3CDTF">2006-08-16T00:00:00Z</dcterms:created>
  <dcterms:modified xsi:type="dcterms:W3CDTF">2026-07-03T22:11:39Z</dcterms:modified>
  <dc:identifier>DAHOOreYB9E</dc:identifier>
</cp:coreProperties>
</file>